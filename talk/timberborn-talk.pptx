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'This is a talk about modding Timberborn — a colony sim — with my 6-year-old as the customer. He couldn't read most of the code, but he made every design decision. Three shipped mods, one we haven't built yet, and a lot of gotchas in between.'</a:t>
            </a:r>
          </a:p>
          <a:p/>
          <a:p>
            <a:r>
              <a:t>Set expectations: technical walkthrough, five live demos interleaved, a future-work tease at the end, ~55 minutes content with Q&amp;A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slide slowly — it's the conceptual anchor for the whole talk.</a:t>
            </a:r>
          </a:p>
          <a:p/>
          <a:p>
            <a:r>
              <a:t>Key things to highlight verbally:</a:t>
            </a:r>
          </a:p>
          <a:p>
            <a:r>
              <a:t>  - Discrete-event vs time-incrementing is a fundamental modelling choice. Time-incrementing is simpler to render (every frame IS a sim tick). Discrete-event lets you jump over uneventful time.</a:t>
            </a:r>
          </a:p>
          <a:p>
            <a:r>
              <a:t>  - PlayCanvas decoupling is a deliberate architectural choice we made — Timberborn made the opposite choice. Both are valid.</a:t>
            </a:r>
          </a:p>
          <a:p>
            <a:r>
              <a:t>  - C# .NET vs TypeScript: very different tooling stacks. Decompiling .NET is mature and easy — IL is well-specified and a tool like ilspycmd produces near-source-quality output. TypeScript bundles are messier to reverse-engineer.</a:t>
            </a:r>
          </a:p>
          <a:p/>
          <a:p>
            <a:r>
              <a:t>Lands the question: 'how do you change behaviour in a product whose stack is nothing like yours?'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anchor of the talk. A few beats worth landing verbally:</a:t>
            </a:r>
          </a:p>
          <a:p/>
          <a:p>
            <a:r>
              <a:t>1. The Code for Life arc is genuinely worth a sentence. Built it before having kids → my kid grew up using it → he's grown enough to drive a real modding project. This talk is a continuation of that arc.</a:t>
            </a:r>
          </a:p>
          <a:p/>
          <a:p>
            <a:r>
              <a:t>2. The 'pair programming' framing matters: the actual coding pattern was I-on-keyboard-with-Claude-Code, Jasper next to me as customer + first user-tester. He didn't read most of the C# — he understood it at the level of 'this part picks the weather; this part draws the picture'.</a:t>
            </a:r>
          </a:p>
          <a:p/>
          <a:p>
            <a:r>
              <a:t>3. There's an obvious parallel between pairing with a 6-year-old and pairing with an AI agent: both are 'I'm in the driver's seat, you check my work and tell me what's next.' Worth flagging if the room is into it, but don't belabour. The talk is technical.</a:t>
            </a:r>
          </a:p>
          <a:p/>
          <a:p>
            <a:r>
              <a:t>4. Don't oversell the kid angle. He's not on stage. He shows up at each phase as a named customer.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talk's structure here. The audience should leave this slide with the whole running order in their head:</a:t>
            </a:r>
          </a:p>
          <a:p/>
          <a:p>
            <a:r>
              <a:t>  #1  Quadruple Platform — pure data, no compilation. Layer 1: templates.</a:t>
            </a:r>
          </a:p>
          <a:p>
            <a:r>
              <a:t>  #2  Flood Season A — implement an exposed interface, register a settings UI. Layer 2.</a:t>
            </a:r>
          </a:p>
          <a:p>
            <a:r>
              <a:t>  #3  Flood Season B — replace a hardcoded vanilla return value with a new type. Layer 3: Harmony.</a:t>
            </a:r>
          </a:p>
          <a:p>
            <a:r>
              <a:t>  #4  Mixed Tide — same patches as Flood Season, parallel branches. Still layer 3, stress-test.</a:t>
            </a:r>
          </a:p>
          <a:p>
            <a:r>
              <a:t>  #5  Rainy Season — future-work tease.</a:t>
            </a:r>
          </a:p>
          <a:p/>
          <a:p>
            <a:r>
              <a:t>Note the two halves of Flood Season — requests #2 and #3 landed in the same mod but as two distinct phases driven by two distinct asks from Jasper.</a:t>
            </a:r>
          </a:p>
          <a:p/>
          <a:p>
            <a:r>
              <a:t>Asks escalate roughly: data change → interface → patch → patch-cascade → unknown.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here. Audience needs to know:</a:t>
            </a:r>
          </a:p>
          <a:p>
            <a:r>
              <a:t>  - There are WATER SOURCES, BEAVERS, and HAZARDS</a:t>
            </a:r>
          </a:p>
          <a:p>
            <a:r>
              <a:t>  - The game has weather cycles</a:t>
            </a:r>
          </a:p>
          <a:p>
            <a:r>
              <a:t>  - It's Unity + C#</a:t>
            </a:r>
          </a:p>
          <a:p>
            <a:r>
              <a:t>Move on quickly — the rest of the talk is the modding.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60-90 seconds. Don't narrate the gameplay in depth — just orient the audience. The bits that matter for the rest of the talk:</a:t>
            </a:r>
          </a:p>
          <a:p>
            <a:r>
              <a:t>  - Water sources are a thing</a:t>
            </a:r>
          </a:p>
          <a:p>
            <a:r>
              <a:t>  - The date panel + weather panel sit top-right (we mod both)</a:t>
            </a:r>
          </a:p>
          <a:p>
            <a:r>
              <a:t>  - Cycles tick through Temperate → Hazard → Temperate</a:t>
            </a:r>
          </a:p>
          <a:p/>
          <a:p>
            <a:r>
              <a:t>Don't get drawn into beaver lore. Move on.</a:t>
            </a:r>
          </a:p>
          <a:p/>
          <a:p>
            <a:r>
              <a:t>In-game steps:</a:t>
            </a:r>
          </a:p>
          <a:p>
            <a:r>
              <a:t>  1. Switch to the game — paused at a save with an active Folktails base.</a:t>
            </a:r>
          </a:p>
          <a:p>
            <a:r>
              <a:t>  2. Point at: water sources flowing, beavers working, the top-right date panel.</a:t>
            </a:r>
          </a:p>
          <a:p>
            <a:r>
              <a:t>  3. Pan to a body of water — the column simulation is doing its thing.</a:t>
            </a:r>
          </a:p>
          <a:p>
            <a:r>
              <a:t>  4. If a hazard is approaching, point at the forecast banner. Otherwise mention vanilla cycles drought / badtide / temperate.</a:t>
            </a:r>
          </a:p>
          <a:p>
            <a:r>
              <a:t>  5. Switch back to slides — 'OK, now we mod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to land:</a:t>
            </a:r>
          </a:p>
          <a:p>
            <a:r>
              <a:t>1. Reflection-based discovery. No registration manifest, no init order. The game just walks the folder and instantiates anything that looks like a mod.</a:t>
            </a:r>
          </a:p>
          <a:p>
            <a:r>
              <a:t>2. 'RECURSIVE' is doing work in that sentence — we'll come back to this when bin/obj/Code.dll bites us during the build.</a:t>
            </a:r>
          </a:p>
          <a:p/>
          <a:p>
            <a:r>
              <a:t>Some mods are PURE DATA (no Code.dll). The Quadruple Platform we're about to show is one of those.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conceptual scaffolding for the rest of the talk. Each mod we walk through sits at one or more of these layers. The pedagogical order — templates first, Harmony last — matches the order of the customer requests, which is a nice accident.</a:t>
            </a:r>
          </a:p>
          <a:p/>
          <a:p>
            <a:r>
              <a:t>Land the rule of thumb: 'reach for layer N only when layer N−1 can't do the job.' It's not just modding hygiene; it's how to think about any third-party extension.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simplest mod first. The audience should leave this section thinking 'oh, lots of game content is just JSON — modding doesn't have to mean Harmony.'</a:t>
            </a:r>
          </a:p>
          <a:p/>
          <a:p>
            <a:r>
              <a:t>Mention: Timberborn's content pipeline is a deliberate design choice by Mechanistry. They want modders. Not every game does this — some games ship everything packed into binary asset bundles.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win for the templates layer. The game's content pipeline lets us EXTEND vanilla lists without forking them. No code, no Harmony — just a key suffix.</a:t>
            </a:r>
          </a:p>
          <a:p/>
          <a:p>
            <a:r>
              <a:t>Worth mentioning: there are other suffixes too (`#replace`, `#remove`) but `#append` is the one we needed. The templates system is fully documented by Mechanistry.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reaction here should be 'oh, that's basically a spec sheet'. The whole building — its cost, its footprint, its models, its localisation key — is data.</a:t>
            </a:r>
          </a:p>
          <a:p/>
          <a:p>
            <a:r>
              <a:t>Worth pointing out: the blueprint references three separate 3D models — Finished, FinishedUncovered (no roof), and Unfinished (construction site). All Folktails-themed.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reveal: the .timbermesh model is zlib+protobuf, schema published on GitHub. You don't need to model in Blender and export — you can build the binary directly from a script.</a:t>
            </a:r>
          </a:p>
          <a:p/>
          <a:p>
            <a:r>
              <a:t>Be honest about the AI involvement — I didn't write this Python. I described what I wanted (a Quadruple Platform mirroring the Triple), and Claude wrote the whole thing: protobuf encoding, geometry, materials, everything. It also picked its own textures from the materials it found in the base game's models. The result is a working four-high platform that looks… let's say 'distinctive'. Show the in-game screenshot on the demo slide if you want the laugh.</a:t>
            </a:r>
          </a:p>
          <a:p/>
          <a:p>
            <a:r>
              <a:t>Don't apologise for the AI-wrote-it angle. It's the point. This is what 'AI-driven reverse-engineering of binary formats' actually looks like in practice — describe the goal, judge the output, iterate. Same workflow would apply to PlayCanvas asset bundles in our stack.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demo is to convince the audience that a JSON-only mod is GAME-COMPLETE. There's no asterisk — building shows up in the toolbar, beavers build it, it works.</a:t>
            </a:r>
          </a:p>
          <a:p/>
          <a:p>
            <a:r>
              <a:t>Land the funky-textures payoff here. The AI picked colours from the base game's material palette and combined them in an order Mechanistry would not have. Worth a small laugh.</a:t>
            </a:r>
          </a:p>
          <a:p/>
          <a:p>
            <a:r>
              <a:t>In-game steps:</a:t>
            </a:r>
          </a:p>
          <a:p>
            <a:r>
              <a:t>  1. Switch to Timberborn — Folktails base loaded, building menu open.</a:t>
            </a:r>
          </a:p>
          <a:p>
            <a:r>
              <a:t>  2. Paths group → Quadruple Platform appears with its (AI-textured) icon.</a:t>
            </a:r>
          </a:p>
          <a:p>
            <a:r>
              <a:t>  3. Place one on flat ground. Beavers haul planks. Construction stages through.</a:t>
            </a:r>
          </a:p>
          <a:p>
            <a:r>
              <a:t>  4. Stand the platform next to a vanilla Triple — the 4-high difference is obvious.</a:t>
            </a:r>
          </a:p>
          <a:p>
            <a:r>
              <a:t>  5. Pause on the textures for the laugh.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quote, pause, then: 'OK, what does "too much water" mean? Let's start small — can we make the wet seasons WETTER? Double the flow during temperate? That's a one-line spec we can act on. Floods themselves come later, as a separate ask.'</a:t>
            </a:r>
          </a:p>
          <a:p/>
          <a:p>
            <a:r>
              <a:t>Important framing: this is the SCOPED interpretation of his request. He wasn't being specific about 'flood' yet — he just wanted more water. The temperate-multiplier story IS the response to this ask. Request #3 (flood-as-hazard) came LATER,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skill that transfers to all third-party software work. Install the decompiler, point it at the binary, get readable code, grep for what you care about.</a:t>
            </a:r>
          </a:p>
          <a:p/>
          <a:p>
            <a:r>
              <a:t>.NET is the easy case — IL is structured, ilspycmd is mature. For TypeScript bundles you'd reach for sourcemap inspection or a tool like Webcrack. Different tooling, same workflow.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WIN. We have:</a:t>
            </a:r>
          </a:p>
          <a:p>
            <a:r>
              <a:t>  - a one-method interface</a:t>
            </a:r>
          </a:p>
          <a:p>
            <a:r>
              <a:t>  - a multiplicative composition chain (we don't fight other modifiers)</a:t>
            </a:r>
          </a:p>
          <a:p>
            <a:r>
              <a:t>  - a per-entity registration point (AddWaterStrengthModifier)</a:t>
            </a:r>
          </a:p>
          <a:p/>
          <a:p>
            <a:r>
              <a:t>This is what 'exposed interface' looks like. The game's authors wanted us to be able to do this. Drought is implemented the same way, internally.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Things the audience should notice:</a:t>
            </a:r>
          </a:p>
          <a:p>
            <a:r>
              <a:t>  - Standard mod-component shape: BaseComponent + IWaterStrengthModifier</a:t>
            </a:r>
          </a:p>
          <a:p>
            <a:r>
              <a:t>    + the lifecycle interfaces Timberborn expects (Awake, InitializeEntity).</a:t>
            </a:r>
          </a:p>
          <a:p>
            <a:r>
              <a:t>  - The gate on _weatherService.IsHazardousWeather — during droughts and</a:t>
            </a:r>
          </a:p>
          <a:p>
            <a:r>
              <a:t>    badtides we return 1.0 and let the game's own modifiers handle it.</a:t>
            </a:r>
          </a:p>
          <a:p>
            <a:r>
              <a:t>  - The temperate path returns the user-configured multiplier from the</a:t>
            </a:r>
          </a:p>
          <a:p>
            <a:r>
              <a:t>    settings panel we're about to see on the next slide.</a:t>
            </a:r>
          </a:p>
          <a:p/>
          <a:p>
            <a:r>
              <a:t>This is the WHOLE first half of the Flood Season mod. We'll extend this</a:t>
            </a:r>
          </a:p>
          <a:p>
            <a:r>
              <a:t>class as new asks land (the switch with FloodWeather / MixedTideWeather</a:t>
            </a:r>
          </a:p>
          <a:p>
            <a:r>
              <a:t>cases shows up later, once those types exist) — but right now, this is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concepts crammed into one slide because they're each one paragraph:</a:t>
            </a:r>
          </a:p>
          <a:p>
            <a:r>
              <a:t>  1. Bindito DI — [Context("Game")] auto-discovery, AsSingleton / AsTransient.</a:t>
            </a:r>
          </a:p>
          <a:p>
            <a:r>
              <a:t>  2. TemplateModule — decorator wiring 'attach component T2 wherever T1 exists'.</a:t>
            </a:r>
          </a:p>
          <a:p>
            <a:r>
              <a:t>  3. eMka.ModSettings — third-party mod that reflects over ModSetting&lt;T&gt; properties to generate UI controls.</a:t>
            </a:r>
          </a:p>
          <a:p/>
          <a:p>
            <a:r>
              <a:t>If anyone asks 'what's eMka.ModSettings?' — it's a Workshop mod that lots of Timberborn mods depend on for a consistent settings UI. We declare it as required in 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Pre-load a save with several water sources visible — an empty map makes for a boring demo.</a:t>
            </a:r>
          </a:p>
          <a:p/>
          <a:p>
            <a:r>
              <a:t>Talking point during demo: 'This is the WHOLE first half of Flood Season in 15 lines of C# plus a settings property. We didn't need Harmony at all. The game gave us the seam.'</a:t>
            </a:r>
          </a:p>
          <a:p/>
          <a:p>
            <a:r>
              <a:t>In-game steps:</a:t>
            </a:r>
          </a:p>
          <a:p>
            <a:r>
              <a:t>  1. Open Mod Settings panel in-game.</a:t>
            </a:r>
          </a:p>
          <a:p>
            <a:r>
              <a:t>  2. Set 'Temperate flow multiplier (%)' to 500.</a:t>
            </a:r>
          </a:p>
          <a:p>
            <a:r>
              <a:t>  3. Close settings. Point at the water sources — flow visibly jumps.</a:t>
            </a:r>
          </a:p>
          <a:p>
            <a:r>
              <a:t>  4. Set back to 200 (default 2×) to keep things sane.</a:t>
            </a:r>
          </a:p>
          <a:p>
            <a:r>
              <a:t>  5. Optional: speed-time to make the downstream effect obvious.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escalation. Wetter wet seasons (Flood Season A) was great — and then Jasper came back specifically asking for a flood SEASON, like the droughts and badtides he already knew about. Not just more water — a whole hazard.</a:t>
            </a:r>
          </a:p>
          <a:p/>
          <a:p>
            <a:r>
              <a:t>Speaker bridge to the next slide:</a:t>
            </a:r>
          </a:p>
          <a:p>
            <a:r>
              <a:t>  'Translation: introduce a NEW IHazardousWeather type, alongside Drought and Badtide. Look for a seam… and there isn't one. The picker is a hardcoded if/else with two private fields. No MultiBind, no event hook, no registration call. Welcome to layer 3 — Harmony.'</a:t>
            </a:r>
          </a:p>
          <a:p/>
          <a:p>
            <a:r>
              <a:t>Then move straight to the next slide which shows the decompiled if/else.</a:t>
            </a:r>
          </a:p>
          <a:p/>
          <a:p>
            <a:r>
              <a:t>Tone shift the audience should feel: up to here, modding has felt 'supported'. From here on, we're rewriting compiled methods at runtime.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this hard. The audience should appreciate that the game's authors didn't WANT this to be extensible. They wrote drought-or-badtide and moved on.</a:t>
            </a:r>
          </a:p>
          <a:p/>
          <a:p>
            <a:r>
              <a:t>We're about to overwrite the return value of this method at runtime, with no permission. Welcome to Harmony.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anyone in the audience knows Harmony from RimWorld, Stardew, BepInEx, Cities Skylines, Subnautica — same library, same mental model. 'Don't modify the binary; ship a recipe for patching it at load.'</a:t>
            </a:r>
          </a:p>
          <a:p/>
          <a:p>
            <a:r>
              <a:t>Mention: Harmony isn't bundled with Timberborn. Our mod's manifest declares 'Harmony for Timberborn' as a required dependency, which redistributes 0Harmony.dll legally.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surprise: this is all it takes to extend a method that has no extension point. The original runs (so the game's internal streak tracking still ticks normally), then we get a chance to overwrite the return value.</a:t>
            </a:r>
          </a:p>
          <a:p/>
          <a:p>
            <a:r>
              <a:t>Quick note on `__result`: that's a Harmony magic parameter. Two underscores. The original method's return slot, available to read and write. Harmony has other magic parameters too — `__instance`, `___fieldName` — we'll see one of those in a couple of slides.</a:t>
            </a:r>
          </a:p>
          <a:p/>
          <a:p>
            <a:r>
              <a:t>FloodWeather.Instance: Harmony patches are static methods, so they can't take DI. We publish a static accessor from the Bindito-managed FloodWeather constructor. Pattern: stash the singleton on a static field.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try to demo on an existing save — the cycle's weather was already decided as something else. Settings changes never retro-apply mid-cycle. New game.</a:t>
            </a:r>
          </a:p>
          <a:p/>
          <a:p>
            <a:r>
              <a:t>Talking point during the demo: 'Notice the icon, the banner, the labels — they all still say drought/badtide. The game LOGIC thinks it's a flood. The UI hasn't caught up. That's the next twenty minutes of the talk.'</a:t>
            </a:r>
          </a:p>
          <a:p/>
          <a:p>
            <a:r>
              <a:t>In-game steps:</a:t>
            </a:r>
          </a:p>
          <a:p>
            <a:r>
              <a:t>  1. Open Mod Settings, enable Flood Season, probability 100%, grace 0.</a:t>
            </a:r>
          </a:p>
          <a:p>
            <a:r>
              <a:t>  2. Start a NEW game — cycle weather is decided at cycle START (gotcha).</a:t>
            </a:r>
          </a:p>
          <a:p>
            <a:r>
              <a:t>  3. Fast-forward to the first hazardous cycle.</a:t>
            </a:r>
          </a:p>
          <a:p>
            <a:r>
              <a:t>  4. Point at the panel: 'A flood has begun!' instead of drought/badtide.</a:t>
            </a:r>
          </a:p>
          <a:p>
            <a:r>
              <a:t>  5. Note that the icon + banner still look like drought (cascade fixes coming).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that motivates the rest of the section. The audience should walk away with: 'introducing one new type into a hardcoded domain causes a cascade. The cost of bypassing the seam isn't four lines, it's the long tail of vanilla code that fights back.'</a:t>
            </a:r>
          </a:p>
          <a:p/>
          <a:p>
            <a:r>
              <a:t>We'll show the throw-on-unknown-type pattern (UI helper), the Id-spoof trick for string-keyed lookups, then the inline-style-override pattern for the UI.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a Harmony PREFIX that returns false (skipping the original) when our flood is current, substituting drought's UI spec in place of the would-have-thrown branch.</a:t>
            </a:r>
          </a:p>
          <a:p/>
          <a:p>
            <a:r>
              <a:t>Sound player and fog spec have the same shape — different fix specifics. The fog spec is keyed by string Id, which leads to the next slide: the Id-spoof trick.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for this slide — it's one of the cleverer bits.</a:t>
            </a:r>
          </a:p>
          <a:p/>
          <a:p>
            <a:r>
              <a:t>The trick:</a:t>
            </a:r>
          </a:p>
          <a:p>
            <a:r>
              <a:t>  - For string-keyed lookups (fog spec, history count), lie about the id. Inherit drought's data.</a:t>
            </a:r>
          </a:p>
          <a:p>
            <a:r>
              <a:t>  - For type-based dispatch (`is FloodWeather`), the C# type stays distinct. Our modifier still tells flood from drought via type identity.</a:t>
            </a:r>
          </a:p>
          <a:p/>
          <a:p>
            <a:r>
              <a:t>The side effect — vanilla's HazardousWeatherHistory counts our floods as droughts and very slightly affects its handicap math — is acceptable. Mention as a known wart.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UI surfaces, three different fix strategies.</a:t>
            </a:r>
          </a:p>
          <a:p/>
          <a:p>
            <a:r>
              <a:t>The first two are 'inline override of a CSS-driven background-image' — straightforward UI Toolkit.</a:t>
            </a:r>
          </a:p>
          <a:p/>
          <a:p>
            <a:r>
              <a:t>The third one (the progress strip) is the deferred-resolver race. We discovered this by adding Debug.Log diagnostics to two candidate patches — one log fired but the visual didn't change, telling us the resolver was running AFTER our postfix and overwriting our work.</a:t>
            </a:r>
          </a:p>
          <a:p/>
          <a:p>
            <a:r>
              <a:t>Lesson: UI Toolkit's custom style resolution is queued, not synchronous. Race conditions are real even in single-threaded UI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ideas crammed into one slide:</a:t>
            </a:r>
          </a:p>
          <a:p>
            <a:r>
              <a:t>1. Vanilla's bool can't represent our state. So we side-car: our own singleton-keyed save data alongside vanilla's.</a:t>
            </a:r>
          </a:p>
          <a:p>
            <a:r>
              <a:t>2. The setter for CurrentCycleHazardousWeather is private. AccessTools.PropertySetter (a Harmony utility) bypasses the access check.</a:t>
            </a:r>
          </a:p>
          <a:p>
            <a:r>
              <a:t>3. After we force-set the right weather, we post a synthetic 'badtide ended' event so vanilla's entity-side contamination controllers (which vanilla load enabled by mistake) walk through their disable handler.</a:t>
            </a:r>
          </a:p>
          <a:p/>
          <a:p>
            <a:r>
              <a:t>This sets up the next slide — the fake-event knock-on.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reaction here should be a wince. We solved one bug by posting an event with the wrong semantic meaning, then had to add another patch to suppress the wrong-half-of-that-meaning.</a:t>
            </a:r>
          </a:p>
          <a:p/>
          <a:p>
            <a:r>
              <a:t>Framing: 'this is what patch-as-last-resort actually costs over time. Each patch is small. The COMPOSITION of patches gets complicated. Every fake event needs a guard for the next unintended subscriber.'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kid's third feature request. After the floods worked, he wanted ANOTHER mechanic — water that's partly bad, partly clean. Not full badtide, not drought, something in between.</a:t>
            </a:r>
          </a:p>
          <a:p/>
          <a:p>
            <a:r>
              <a:t>This sets up the doing-it-twice section. Walk the audience through what the second pass at the same patch design revealed.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Mixed Tide mechanic is genuinely just 'find the right variable, write to it on every tick'. The hard part was confirming it was a real ratio and not a binary threshold downstream.</a:t>
            </a:r>
          </a:p>
          <a:p/>
          <a:p>
            <a:r>
              <a:t>Hat-tip to Mechanistry: contamination flows through the water-column simulation as a real fraction. No hardcoded 'if &gt; 0 emit bad water'. Our 30% setting produces actual 30%/70% mixed water that diffuses correctly.</a:t>
            </a:r>
          </a:p>
          <a:p/>
          <a:p>
            <a:r>
              <a:t>Headline insight on doing the second pass: the patch design from Flood Season held up. Every existing patch — UI helper substitution, sound player skip, label substitutions, art overrides — just needed ONE more conditional branch for Mixed Tide. No restructuring. The gotchas it did surface are in the catalogue ahead.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Pre-prep: a save mid-Mixed-Tide with several water sources visible. The audience should see the water visibly tinted with contamination, not fully purple/green like a real badtide. The 30% setting is the headline mechanic — it's a real ratio that diffuses through the simulation.</a:t>
            </a:r>
          </a:p>
          <a:p/>
          <a:p>
            <a:r>
              <a:t>If the contrast-with-real-badtide demo lands, lead with that. Otherwise just show the mixed tide and move on.</a:t>
            </a:r>
          </a:p>
          <a:p/>
          <a:p>
            <a:r>
              <a:t>In-game steps:</a:t>
            </a:r>
          </a:p>
          <a:p>
            <a:r>
              <a:t>  1. Open Mod Settings — enable Mixed Tide, probability 100%, contamination 30%.</a:t>
            </a:r>
          </a:p>
          <a:p>
            <a:r>
              <a:t>  2. Start a NEW game, fast-forward to the first hazardous cycle.</a:t>
            </a:r>
          </a:p>
          <a:p>
            <a:r>
              <a:t>  3. Point at the date panel — custom 'Mixed Tide' icon + label.</a:t>
            </a:r>
          </a:p>
          <a:p>
            <a:r>
              <a:t>  4. Walk the camera to a water source — partly-bad water emitting + diffusing downstream.</a:t>
            </a:r>
          </a:p>
          <a:p>
            <a:r>
              <a:t>  5. Optional: contrast with a real Badtide cycle (set Mixed Tide off, restart) so the 30%/70% mix vs full bad is visible.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anyone takes a photo of one slide during the talk, it'll be this one. Land it slowly — these are the nine real landmines we hit and wrote down for next time.</a:t>
            </a:r>
          </a:p>
          <a:p/>
          <a:p>
            <a:r>
              <a:t>Each one started as a crash, a wrong-looking screenshot, or a confusing log line. The discipline that made the list useful: write it down the moment you've understood the cause, before the context evaporates.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tease. The mod we haven't built yet.</a:t>
            </a:r>
          </a:p>
          <a:p/>
          <a:p>
            <a:r>
              <a:t>Frame it as 'here's the next one — let me walk you through what I'd need to find to make it work. Note the workflow is the same as the other three: decompile, find the seam, choose the layer.'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genuinely the next thing. Don't promise — the talk's already shipped three mods, the audience doesn't need a fourth.</a:t>
            </a:r>
          </a:p>
          <a:p/>
          <a:p>
            <a:r>
              <a:t>Useful talking point: 'this is the workflow you'd use too. Decompile, grep for keywords matching the behaviour you want, find the seam (or discover there isn't one), pick the layer, start patching.'</a:t>
            </a:r>
          </a:p>
          <a:p/>
          <a:p>
            <a:r>
              <a:t>I haven't actually grepped yet, so I'm not naming specific types — promising 'WaterAdditionService' would invite a 'no, it's called X' from anyone who's modded Timberborn before.</a:t>
            </a:r>
          </a:p>
          <a:p/>
          <a:p>
            <a:r>
              <a:t>If anyone asks 'when will this be done?' — Jasper hasn't actually asked yet, this is me predicting. Don't commit to a timeline.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reflection (placeholder, replace with something specific): TODO: one or two sentences on what pair-programming with a kindergartener actually taught you. Best PM I've ever had / customer-driven scoping / something true and specific. Script ships with a placeholder.</a:t>
            </a:r>
          </a:p>
          <a:p/>
          <a:p>
            <a:r>
              <a:t>Q&amp;A starts here. ~10 minutes.</a:t>
            </a:r>
          </a:p>
          <a:p/>
          <a:p>
            <a:r>
              <a:t>Likely questions to prep for:</a:t>
            </a:r>
          </a:p>
          <a:p>
            <a:r>
              <a:t>  - 'Why not contribute a PR to Timberborn instead?' — Mechanistry doesn't take random PRs; the mod ecosystem is the supported extension point.</a:t>
            </a:r>
          </a:p>
          <a:p>
            <a:r>
              <a:t>  - 'Is this on the Steam Workshop?' — Not yet. Build is hardened for publication, just haven't packaged it.</a:t>
            </a:r>
          </a:p>
          <a:p>
            <a:r>
              <a:t>  - 'How long did this take?' — Roughly N evenings; specifics in git history.</a:t>
            </a:r>
          </a:p>
          <a:p>
            <a:r>
              <a:t>  - 'Could the kid actually read the code?' — He couldn't read most of it. He understood the SHAPE — 'this part picks the weather', 'this part draws the picture' — and he made decisions at that level.</a:t>
            </a:r>
          </a:p>
          <a:p>
            <a:r>
              <a:t>  - 'How does this relate to our work?' — The decompile / find-the-seam / patch-when-necessary workflow is what you'd do reverse-engineering any third-party software in our stack. PlayCanvas asset bundles, vendor SDKs, anything you don't have source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1463040"/>
          </a:xfrm>
          <a:prstGeom prst="rect">
            <a:avLst/>
          </a:prstGeom>
          <a:noFill/>
        </p:spPr>
        <p:txBody>
          <a:bodyPr wrap="square" anchor="ctr">
            <a:spAutoFit/>
          </a:bodyPr>
          <a:lstStyle/>
          <a:p>
            <a:pPr algn="l"/>
            <a:r>
              <a:rPr sz="5600" b="1">
                <a:solidFill>
                  <a:srgbClr val="F4F7FB"/>
                </a:solidFill>
                <a:latin typeface="Calibri Light"/>
              </a:rPr>
              <a:t>Modding Timberborn</a:t>
            </a:r>
          </a:p>
        </p:txBody>
      </p:sp>
      <p:sp>
        <p:nvSpPr>
          <p:cNvPr id="3" name="TextBox 2"/>
          <p:cNvSpPr txBox="1"/>
          <p:nvPr/>
        </p:nvSpPr>
        <p:spPr>
          <a:xfrm>
            <a:off x="548640" y="3383280"/>
            <a:ext cx="11094415" cy="731520"/>
          </a:xfrm>
          <a:prstGeom prst="rect">
            <a:avLst/>
          </a:prstGeom>
          <a:noFill/>
        </p:spPr>
        <p:txBody>
          <a:bodyPr wrap="square" anchor="ctr">
            <a:spAutoFit/>
          </a:bodyPr>
          <a:lstStyle/>
          <a:p>
            <a:pPr algn="l"/>
            <a:r>
              <a:rPr sz="2800" b="0">
                <a:solidFill>
                  <a:srgbClr val="AADCF0"/>
                </a:solidFill>
                <a:latin typeface="Calibri"/>
              </a:rPr>
              <a:t>Three (and a half) mods I built with my 6-year-old</a:t>
            </a:r>
          </a:p>
        </p:txBody>
      </p:sp>
      <p:sp>
        <p:nvSpPr>
          <p:cNvPr id="4" name="TextBox 3"/>
          <p:cNvSpPr txBox="1"/>
          <p:nvPr/>
        </p:nvSpPr>
        <p:spPr>
          <a:xfrm>
            <a:off x="548640" y="4206240"/>
            <a:ext cx="11094415" cy="548640"/>
          </a:xfrm>
          <a:prstGeom prst="rect">
            <a:avLst/>
          </a:prstGeom>
          <a:noFill/>
        </p:spPr>
        <p:txBody>
          <a:bodyPr wrap="square" anchor="ctr">
            <a:spAutoFit/>
          </a:bodyPr>
          <a:lstStyle/>
          <a:p>
            <a:pPr algn="l"/>
            <a:r>
              <a:rPr sz="1800" b="0">
                <a:solidFill>
                  <a:srgbClr val="F4F7FB"/>
                </a:solidFill>
                <a:latin typeface="Calibri"/>
              </a:rPr>
              <a:t>Chris Brett · designed by Jasper (age 6)</a:t>
            </a:r>
          </a:p>
        </p:txBody>
      </p:sp>
      <p:sp>
        <p:nvSpPr>
          <p:cNvPr id="5" name="TextBox 4"/>
          <p:cNvSpPr txBox="1"/>
          <p:nvPr/>
        </p:nvSpPr>
        <p:spPr>
          <a:xfrm>
            <a:off x="548640" y="6035040"/>
            <a:ext cx="11094415" cy="457200"/>
          </a:xfrm>
          <a:prstGeom prst="rect">
            <a:avLst/>
          </a:prstGeom>
          <a:noFill/>
        </p:spPr>
        <p:txBody>
          <a:bodyPr wrap="square" anchor="t">
            <a:spAutoFit/>
          </a:bodyPr>
          <a:lstStyle/>
          <a:p>
            <a:pPr algn="l"/>
            <a:r>
              <a:rPr sz="1200" b="0">
                <a:solidFill>
                  <a:srgbClr val="556070"/>
                </a:solidFill>
                <a:latin typeface="Calibri"/>
              </a:rPr>
              <a:t>Kallikor tech guild   ·   2026-09-10   ·   https://github.com/Spycho/timberborn-flood-mod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Two simulators, side by side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5364327" cy="4846320"/>
          </a:xfrm>
          <a:prstGeom prst="rect">
            <a:avLst/>
          </a:prstGeom>
          <a:solidFill>
            <a:srgbClr val="E9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4998567" cy="548640"/>
          </a:xfrm>
          <a:prstGeom prst="rect">
            <a:avLst/>
          </a:prstGeom>
          <a:noFill/>
        </p:spPr>
        <p:txBody>
          <a:bodyPr wrap="square" anchor="ctr">
            <a:spAutoFit/>
          </a:bodyPr>
          <a:lstStyle/>
          <a:p>
            <a:pPr algn="l"/>
            <a:r>
              <a:rPr sz="2200" b="1">
                <a:solidFill>
                  <a:srgbClr val="0A203A"/>
                </a:solidFill>
                <a:latin typeface="Calibri"/>
              </a:rPr>
              <a:t>What we build at Kallikor</a:t>
            </a:r>
          </a:p>
        </p:txBody>
      </p:sp>
      <p:sp>
        <p:nvSpPr>
          <p:cNvPr id="6" name="TextBox 5"/>
          <p:cNvSpPr txBox="1"/>
          <p:nvPr/>
        </p:nvSpPr>
        <p:spPr>
          <a:xfrm>
            <a:off x="731520" y="2057400"/>
            <a:ext cx="4998567" cy="3931920"/>
          </a:xfrm>
          <a:prstGeom prst="rect">
            <a:avLst/>
          </a:prstGeom>
          <a:noFill/>
        </p:spPr>
        <p:txBody>
          <a:bodyPr wrap="square">
            <a:spAutoFit/>
          </a:bodyPr>
          <a:lstStyle/>
          <a:p>
            <a:pPr algn="l">
              <a:spcAft>
                <a:spcPts val="800"/>
              </a:spcAft>
            </a:pPr>
            <a:r>
              <a:rPr sz="1800">
                <a:solidFill>
                  <a:srgbClr val="101824"/>
                </a:solidFill>
                <a:latin typeface="Calibri"/>
              </a:rPr>
              <a:t>•  Discrete-event simulation (jump from event to event, no fixed tick)</a:t>
            </a:r>
          </a:p>
          <a:p>
            <a:pPr algn="l">
              <a:spcAft>
                <a:spcPts val="800"/>
              </a:spcAft>
            </a:pPr>
            <a:r>
              <a:rPr sz="1800">
                <a:solidFill>
                  <a:srgbClr val="101824"/>
                </a:solidFill>
                <a:latin typeface="Calibri"/>
              </a:rPr>
              <a:t>•  Visualisation in PlayCanvas, decoupled from the sim (reads state, doesn't drive it)</a:t>
            </a:r>
          </a:p>
          <a:p>
            <a:pPr algn="l">
              <a:spcAft>
                <a:spcPts val="800"/>
              </a:spcAft>
            </a:pPr>
            <a:r>
              <a:rPr sz="1800">
                <a:solidFill>
                  <a:srgbClr val="101824"/>
                </a:solidFill>
                <a:latin typeface="Calibri"/>
              </a:rPr>
              <a:t>•  TypeScript / Python</a:t>
            </a:r>
          </a:p>
          <a:p>
            <a:pPr algn="l">
              <a:spcAft>
                <a:spcPts val="800"/>
              </a:spcAft>
            </a:pPr>
            <a:r>
              <a:rPr sz="1800">
                <a:solidFill>
                  <a:srgbClr val="101824"/>
                </a:solidFill>
                <a:latin typeface="Calibri"/>
              </a:rPr>
              <a:t>•  Sim and renderer can run on separate machines</a:t>
            </a:r>
          </a:p>
          <a:p>
            <a:pPr algn="l">
              <a:spcAft>
                <a:spcPts val="800"/>
              </a:spcAft>
            </a:pPr>
            <a:r>
              <a:rPr sz="1800">
                <a:solidFill>
                  <a:srgbClr val="101824"/>
                </a:solidFill>
                <a:latin typeface="Calibri"/>
              </a:rPr>
              <a:t>•  Domain: customer operations (logistics, warehouses, …)</a:t>
            </a:r>
          </a:p>
        </p:txBody>
      </p:sp>
      <p:sp>
        <p:nvSpPr>
          <p:cNvPr id="7" name="Rectangle 6"/>
          <p:cNvSpPr/>
          <p:nvPr/>
        </p:nvSpPr>
        <p:spPr>
          <a:xfrm>
            <a:off x="6278727" y="1280160"/>
            <a:ext cx="5364327" cy="4846320"/>
          </a:xfrm>
          <a:prstGeom prst="rect">
            <a:avLst/>
          </a:prstGeom>
          <a:solidFill>
            <a:srgbClr val="F8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417320"/>
            <a:ext cx="4998567" cy="548640"/>
          </a:xfrm>
          <a:prstGeom prst="rect">
            <a:avLst/>
          </a:prstGeom>
          <a:noFill/>
        </p:spPr>
        <p:txBody>
          <a:bodyPr wrap="square" anchor="ctr">
            <a:spAutoFit/>
          </a:bodyPr>
          <a:lstStyle/>
          <a:p>
            <a:pPr algn="l"/>
            <a:r>
              <a:rPr sz="2200" b="1">
                <a:solidFill>
                  <a:srgbClr val="0A203A"/>
                </a:solidFill>
                <a:latin typeface="Calibri"/>
              </a:rPr>
              <a:t>What Timberborn is</a:t>
            </a:r>
          </a:p>
        </p:txBody>
      </p:sp>
      <p:sp>
        <p:nvSpPr>
          <p:cNvPr id="9" name="TextBox 8"/>
          <p:cNvSpPr txBox="1"/>
          <p:nvPr/>
        </p:nvSpPr>
        <p:spPr>
          <a:xfrm>
            <a:off x="6461607" y="2057400"/>
            <a:ext cx="4998567" cy="3931920"/>
          </a:xfrm>
          <a:prstGeom prst="rect">
            <a:avLst/>
          </a:prstGeom>
          <a:noFill/>
        </p:spPr>
        <p:txBody>
          <a:bodyPr wrap="square">
            <a:spAutoFit/>
          </a:bodyPr>
          <a:lstStyle/>
          <a:p>
            <a:pPr algn="l">
              <a:spcAft>
                <a:spcPts val="800"/>
              </a:spcAft>
            </a:pPr>
            <a:r>
              <a:rPr sz="1800">
                <a:solidFill>
                  <a:srgbClr val="101824"/>
                </a:solidFill>
                <a:latin typeface="Calibri"/>
              </a:rPr>
              <a:t>•  Time-incrementing simulation (fixed tick rate drives state forward)</a:t>
            </a:r>
          </a:p>
          <a:p>
            <a:pPr algn="l">
              <a:spcAft>
                <a:spcPts val="800"/>
              </a:spcAft>
            </a:pPr>
            <a:r>
              <a:rPr sz="1800">
                <a:solidFill>
                  <a:srgbClr val="101824"/>
                </a:solidFill>
                <a:latin typeface="Calibri"/>
              </a:rPr>
              <a:t>•  Rendering in Unity, IN-PROCESS with the sim — every tick advances both</a:t>
            </a:r>
          </a:p>
          <a:p>
            <a:pPr algn="l">
              <a:spcAft>
                <a:spcPts val="800"/>
              </a:spcAft>
            </a:pPr>
            <a:r>
              <a:rPr sz="1800">
                <a:solidFill>
                  <a:srgbClr val="101824"/>
                </a:solidFill>
                <a:latin typeface="Calibri"/>
              </a:rPr>
              <a:t>•  C#  /  Unity 6 Mono runtime</a:t>
            </a:r>
          </a:p>
          <a:p>
            <a:pPr algn="l">
              <a:spcAft>
                <a:spcPts val="800"/>
              </a:spcAft>
            </a:pPr>
            <a:r>
              <a:rPr sz="1800">
                <a:solidFill>
                  <a:srgbClr val="101824"/>
                </a:solidFill>
                <a:latin typeface="Calibri"/>
              </a:rPr>
              <a:t>•  Sim and renderer share an object graph (Bindito DI)</a:t>
            </a:r>
          </a:p>
          <a:p>
            <a:pPr algn="l">
              <a:spcAft>
                <a:spcPts val="800"/>
              </a:spcAft>
            </a:pPr>
            <a:r>
              <a:rPr sz="1800">
                <a:solidFill>
                  <a:srgbClr val="101824"/>
                </a:solidFill>
                <a:latin typeface="Calibri"/>
              </a:rPr>
              <a:t>•  Domain: a beaver colony surviving seasonal hazards</a:t>
            </a:r>
          </a:p>
        </p:txBody>
      </p:sp>
      <p:sp>
        <p:nvSpPr>
          <p:cNvPr id="10" name="TextBox 9"/>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Opening   ·   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customer: Jasper, age 6</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Jasper loves Timberborn — has played it since he was four.</a:t>
            </a:r>
          </a:p>
          <a:p>
            <a:pPr algn="l">
              <a:spcAft>
                <a:spcPts val="800"/>
              </a:spcAft>
            </a:pPr>
            <a:r>
              <a:rPr sz="2200">
                <a:solidFill>
                  <a:srgbClr val="101824"/>
                </a:solidFill>
                <a:latin typeface="Calibri"/>
              </a:rPr>
              <a:t>•  Years before I had kids, I built Code for Life — a Blockly-based game that teaches kids to program.</a:t>
            </a:r>
          </a:p>
          <a:p>
            <a:pPr algn="l" lvl="1">
              <a:spcAft>
                <a:spcPts val="800"/>
              </a:spcAft>
            </a:pPr>
            <a:r>
              <a:rPr sz="1800">
                <a:solidFill>
                  <a:srgbClr val="556070"/>
                </a:solidFill>
                <a:latin typeface="Calibri"/>
              </a:rPr>
              <a:t>    –  Jasper learned Blockly on it. Has started Python. Hadn't seen C# before this project.</a:t>
            </a:r>
          </a:p>
          <a:p>
            <a:pPr algn="l">
              <a:spcAft>
                <a:spcPts val="800"/>
              </a:spcAft>
            </a:pPr>
            <a:r>
              <a:rPr sz="2200">
                <a:solidFill>
                  <a:srgbClr val="101824"/>
                </a:solidFill>
                <a:latin typeface="Calibri"/>
              </a:rPr>
              <a:t>•  We paired: I drove the keyboard and Claude Code. He drove the design.</a:t>
            </a:r>
          </a:p>
          <a:p>
            <a:pPr algn="l" lvl="1">
              <a:spcAft>
                <a:spcPts val="800"/>
              </a:spcAft>
            </a:pPr>
            <a:r>
              <a:rPr sz="1800">
                <a:solidFill>
                  <a:srgbClr val="556070"/>
                </a:solidFill>
                <a:latin typeface="Calibri"/>
              </a:rPr>
              <a:t>    –  Showed him Claude Code working alongside me — explained the agent's moves in plain English.</a:t>
            </a:r>
          </a:p>
          <a:p>
            <a:pPr algn="l" lvl="1">
              <a:spcAft>
                <a:spcPts val="800"/>
              </a:spcAft>
            </a:pPr>
            <a:r>
              <a:rPr sz="1800">
                <a:solidFill>
                  <a:srgbClr val="556070"/>
                </a:solidFill>
                <a:latin typeface="Calibri"/>
              </a:rPr>
              <a:t>    –  Walked him through the actual C# at each step, in words he could follow.</a:t>
            </a:r>
          </a:p>
          <a:p>
            <a:pPr algn="l">
              <a:spcAft>
                <a:spcPts val="800"/>
              </a:spcAft>
            </a:pPr>
            <a:r>
              <a:rPr sz="2200">
                <a:solidFill>
                  <a:srgbClr val="101824"/>
                </a:solidFill>
                <a:latin typeface="Calibri"/>
              </a:rPr>
              <a:t>•  His specs: behaviour-driven and short. 'Make floods big.'</a:t>
            </a:r>
          </a:p>
          <a:p>
            <a:pPr algn="l">
              <a:spcAft>
                <a:spcPts val="800"/>
              </a:spcAft>
            </a:pPr>
            <a:r>
              <a:rPr sz="2200">
                <a:solidFill>
                  <a:srgbClr val="101824"/>
                </a:solidFill>
                <a:latin typeface="Calibri"/>
              </a:rPr>
              <a:t>•  His feedback: fast and very honest. 'I don't like that.' / 'Cool, do more.'</a:t>
            </a:r>
          </a:p>
          <a:p>
            <a:pPr algn="l">
              <a:spcAft>
                <a:spcPts val="800"/>
              </a:spcAft>
            </a:pPr>
            <a:r>
              <a:rPr sz="2200">
                <a:solidFill>
                  <a:srgbClr val="101824"/>
                </a:solidFill>
                <a:latin typeface="Calibri"/>
              </a:rPr>
              <a:t>•  Best PM I've ever worked with.</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Opening   ·   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Five asks — four answered, one pending</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#1  'I want a platform that goes higher than three.'  → Quadruple Platform (templates)</a:t>
            </a:r>
          </a:p>
          <a:p>
            <a:pPr algn="l">
              <a:spcAft>
                <a:spcPts val="800"/>
              </a:spcAft>
            </a:pPr>
            <a:r>
              <a:rPr sz="2200">
                <a:solidFill>
                  <a:srgbClr val="101824"/>
                </a:solidFill>
                <a:latin typeface="Calibri"/>
              </a:rPr>
              <a:t>•  #2  'Dad, what if there was too much water?'  → Flood Season A: more flow in temperate (interface)</a:t>
            </a:r>
          </a:p>
          <a:p>
            <a:pPr algn="l">
              <a:spcAft>
                <a:spcPts val="800"/>
              </a:spcAft>
            </a:pPr>
            <a:r>
              <a:rPr sz="2200">
                <a:solidFill>
                  <a:srgbClr val="101824"/>
                </a:solidFill>
                <a:latin typeface="Calibri"/>
              </a:rPr>
              <a:t>•  #3  'Dad, what if there was a flood every now and then, like the badtides and droughts?'  → Flood Season B: flood as a new hazard (Harmony)</a:t>
            </a:r>
          </a:p>
          <a:p>
            <a:pPr algn="l">
              <a:spcAft>
                <a:spcPts val="800"/>
              </a:spcAft>
            </a:pPr>
            <a:r>
              <a:rPr sz="2200">
                <a:solidFill>
                  <a:srgbClr val="101824"/>
                </a:solidFill>
                <a:latin typeface="Calibri"/>
              </a:rPr>
              <a:t>•  #4  'Dad, let's make a season with bad and good water.'  → Mixed Tide (Harmony, parallel branches)</a:t>
            </a:r>
          </a:p>
          <a:p>
            <a:pPr algn="l">
              <a:spcAft>
                <a:spcPts val="800"/>
              </a:spcAft>
            </a:pPr>
            <a:r>
              <a:rPr sz="2200">
                <a:solidFill>
                  <a:srgbClr val="101824"/>
                </a:solidFill>
                <a:latin typeface="Calibri"/>
              </a:rPr>
              <a:t>•  #5  'What if water fell from the sky and made the map wet?'  → Rainy Season (not built yet)</a:t>
            </a:r>
          </a:p>
          <a:p>
            <a:pPr algn="l">
              <a:spcAft>
                <a:spcPts val="800"/>
              </a:spcAft>
            </a:pPr>
            <a:r>
              <a:rPr sz="2200">
                <a:solidFill>
                  <a:srgbClr val="101824"/>
                </a:solidFill>
                <a:latin typeface="Calibri"/>
              </a:rPr>
              <a:t/>
            </a:r>
          </a:p>
          <a:p>
            <a:pPr algn="l" lvl="1">
              <a:spcAft>
                <a:spcPts val="800"/>
              </a:spcAft>
            </a:pPr>
            <a:r>
              <a:rPr sz="1800">
                <a:solidFill>
                  <a:srgbClr val="556070"/>
                </a:solidFill>
                <a:latin typeface="Calibri"/>
              </a:rPr>
              <a:t>    –  Each ask escalates the modding machinery. We'll walk through layer by layer.</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Opening   ·   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Timberborn in 60 seconds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Beaver colony sim by Mechanistry. Steam early access since 2021.</a:t>
            </a:r>
          </a:p>
          <a:p>
            <a:pPr algn="l">
              <a:spcAft>
                <a:spcPts val="800"/>
              </a:spcAft>
            </a:pPr>
            <a:r>
              <a:rPr sz="2200">
                <a:solidFill>
                  <a:srgbClr val="101824"/>
                </a:solidFill>
                <a:latin typeface="Calibri"/>
              </a:rPr>
              <a:t>•  Build dams, store water, plant trees, survive seasonal hazards.</a:t>
            </a:r>
          </a:p>
          <a:p>
            <a:pPr algn="l">
              <a:spcAft>
                <a:spcPts val="800"/>
              </a:spcAft>
            </a:pPr>
            <a:r>
              <a:rPr sz="2200">
                <a:solidFill>
                  <a:srgbClr val="101824"/>
                </a:solidFill>
                <a:latin typeface="Calibri"/>
              </a:rPr>
              <a:t>•  Three weather phases per cycle: Temperate → Drought OR Badtide (contaminated water).</a:t>
            </a:r>
          </a:p>
          <a:p>
            <a:pPr algn="l">
              <a:spcAft>
                <a:spcPts val="800"/>
              </a:spcAft>
            </a:pPr>
            <a:r>
              <a:rPr sz="2200">
                <a:solidFill>
                  <a:srgbClr val="101824"/>
                </a:solidFill>
                <a:latin typeface="Calibri"/>
              </a:rPr>
              <a:t>•  Built on Unity 6, written in C#. Time-incrementing sim drives the render every tick.</a:t>
            </a:r>
          </a:p>
          <a:p>
            <a:pPr algn="l" lvl="1">
              <a:spcAft>
                <a:spcPts val="800"/>
              </a:spcAft>
            </a:pPr>
            <a:r>
              <a:rPr sz="1800">
                <a:solidFill>
                  <a:srgbClr val="556070"/>
                </a:solidFill>
                <a:latin typeface="Calibri"/>
              </a:rPr>
              <a:t>    –  No Unity Editor needed for modding — mods load as compiled DLLs into the shipping runtime.</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About Timberborn   ·   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406E"/>
        </a:solidFill>
        <a:effectLst/>
      </p:bgPr>
    </p:bg>
    <p:spTree>
      <p:nvGrpSpPr>
        <p:cNvPr id="1" name=""/>
        <p:cNvGrpSpPr/>
        <p:nvPr/>
      </p:nvGrpSpPr>
      <p:grpSpPr/>
      <p:sp>
        <p:nvSpPr>
          <p:cNvPr id="2" name="TextBox 1"/>
          <p:cNvSpPr txBox="1"/>
          <p:nvPr/>
        </p:nvSpPr>
        <p:spPr>
          <a:xfrm>
            <a:off x="548640" y="457200"/>
            <a:ext cx="11094415" cy="914400"/>
          </a:xfrm>
          <a:prstGeom prst="rect">
            <a:avLst/>
          </a:prstGeom>
          <a:noFill/>
        </p:spPr>
        <p:txBody>
          <a:bodyPr wrap="square" anchor="ctr">
            <a:spAutoFit/>
          </a:bodyPr>
          <a:lstStyle/>
          <a:p>
            <a:pPr algn="l"/>
            <a:r>
              <a:rPr sz="1800" b="1">
                <a:solidFill>
                  <a:srgbClr val="AADCF0"/>
                </a:solidFill>
                <a:latin typeface="Calibri Light"/>
              </a:rPr>
              <a:t>LIVE DEMO</a:t>
            </a:r>
          </a:p>
        </p:txBody>
      </p:sp>
      <p:sp>
        <p:nvSpPr>
          <p:cNvPr id="3" name="TextBox 2"/>
          <p:cNvSpPr txBox="1"/>
          <p:nvPr/>
        </p:nvSpPr>
        <p:spPr>
          <a:xfrm>
            <a:off x="548640" y="1280160"/>
            <a:ext cx="11094415" cy="1097280"/>
          </a:xfrm>
          <a:prstGeom prst="rect">
            <a:avLst/>
          </a:prstGeom>
          <a:noFill/>
        </p:spPr>
        <p:txBody>
          <a:bodyPr wrap="square" anchor="ctr">
            <a:spAutoFit/>
          </a:bodyPr>
          <a:lstStyle/>
          <a:p>
            <a:pPr algn="l"/>
            <a:r>
              <a:rPr sz="4400" b="1">
                <a:solidFill>
                  <a:srgbClr val="F4F7FB"/>
                </a:solidFill>
                <a:latin typeface="Calibri Light"/>
              </a:rPr>
              <a:t>This is Timberborn</a:t>
            </a:r>
          </a:p>
        </p:txBody>
      </p:sp>
      <p:sp>
        <p:nvSpPr>
          <p:cNvPr id="4" name="TextBox 3"/>
          <p:cNvSpPr txBox="1"/>
          <p:nvPr/>
        </p:nvSpPr>
        <p:spPr>
          <a:xfrm>
            <a:off x="548640" y="2926080"/>
            <a:ext cx="11094415" cy="3200400"/>
          </a:xfrm>
          <a:prstGeom prst="rect">
            <a:avLst/>
          </a:prstGeom>
          <a:noFill/>
        </p:spPr>
        <p:txBody>
          <a:bodyPr wrap="square">
            <a:spAutoFit/>
          </a:bodyPr>
          <a:lstStyle/>
          <a:p>
            <a:pPr algn="l">
              <a:spcAft>
                <a:spcPts val="1000"/>
              </a:spcAft>
            </a:pPr>
            <a:r>
              <a:rPr sz="2000">
                <a:solidFill>
                  <a:srgbClr val="F4F7FB"/>
                </a:solidFill>
                <a:latin typeface="Calibri"/>
              </a:rPr>
              <a:t>1.  Switch to the game — paused at a save with an active Folktails base.</a:t>
            </a:r>
          </a:p>
          <a:p>
            <a:pPr algn="l">
              <a:spcAft>
                <a:spcPts val="1000"/>
              </a:spcAft>
            </a:pPr>
            <a:r>
              <a:rPr sz="2000">
                <a:solidFill>
                  <a:srgbClr val="F4F7FB"/>
                </a:solidFill>
                <a:latin typeface="Calibri"/>
              </a:rPr>
              <a:t>2.  Point at: water sources flowing, beavers working, the top-right date panel.</a:t>
            </a:r>
          </a:p>
          <a:p>
            <a:pPr algn="l">
              <a:spcAft>
                <a:spcPts val="1000"/>
              </a:spcAft>
            </a:pPr>
            <a:r>
              <a:rPr sz="2000">
                <a:solidFill>
                  <a:srgbClr val="F4F7FB"/>
                </a:solidFill>
                <a:latin typeface="Calibri"/>
              </a:rPr>
              <a:t>3.  Pan to a body of water — the column simulation is doing its thing.</a:t>
            </a:r>
          </a:p>
          <a:p>
            <a:pPr algn="l">
              <a:spcAft>
                <a:spcPts val="1000"/>
              </a:spcAft>
            </a:pPr>
            <a:r>
              <a:rPr sz="2000">
                <a:solidFill>
                  <a:srgbClr val="F4F7FB"/>
                </a:solidFill>
                <a:latin typeface="Calibri"/>
              </a:rPr>
              <a:t>4.  If a hazard is approaching, point at the forecast banner. Otherwise mention vanilla cycles drought / badtide / temperate.</a:t>
            </a:r>
          </a:p>
          <a:p>
            <a:pPr algn="l">
              <a:spcAft>
                <a:spcPts val="1000"/>
              </a:spcAft>
            </a:pPr>
            <a:r>
              <a:rPr sz="2000">
                <a:solidFill>
                  <a:srgbClr val="F4F7FB"/>
                </a:solidFill>
                <a:latin typeface="Calibri"/>
              </a:rPr>
              <a:t>5.  Switch back to slides — 'OK, now we mod it.'</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About Timberborn   ·   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How Timberborn loads mods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Documents/Timberborn/Mods/Flood Season/</a:t>
            </a:r>
          </a:p>
          <a:p>
            <a:pPr algn="l"/>
            <a:r>
              <a:rPr sz="1600">
                <a:solidFill>
                  <a:srgbClr val="101824"/>
                </a:solidFill>
                <a:latin typeface="Consolas"/>
              </a:rPr>
              <a:t>    manifest.json     # name, version, required-mods</a:t>
            </a:r>
          </a:p>
          <a:p>
            <a:pPr algn="l"/>
            <a:r>
              <a:rPr sz="1600">
                <a:solidFill>
                  <a:srgbClr val="101824"/>
                </a:solidFill>
                <a:latin typeface="Consolas"/>
              </a:rPr>
              <a:t>    Code.dll          # compiled C# (optional — some mods are data-only)</a:t>
            </a:r>
          </a:p>
          <a:p>
            <a:pPr algn="l"/>
            <a:r>
              <a:rPr sz="1600">
                <a:solidFill>
                  <a:srgbClr val="101824"/>
                </a:solidFill>
                <a:latin typeface="Consolas"/>
              </a:rPr>
              <a:t>    assets/           # PNGs, blueprints, .timbermesh, .csv localisations</a:t>
            </a:r>
          </a:p>
          <a:p>
            <a:pPr algn="l"/>
            <a:r>
              <a:rPr sz="1600">
                <a:solidFill>
                  <a:srgbClr val="101824"/>
                </a:solidFill>
                <a:latin typeface="Consolas"/>
              </a:rPr>
              <a:t> </a:t>
            </a:r>
          </a:p>
          <a:p>
            <a:pPr algn="l"/>
            <a:r>
              <a:rPr sz="1600">
                <a:solidFill>
                  <a:srgbClr val="101824"/>
                </a:solidFill>
                <a:latin typeface="Consolas"/>
              </a:rPr>
              <a:t>// On launch:</a:t>
            </a:r>
          </a:p>
          <a:p>
            <a:pPr algn="l"/>
            <a:r>
              <a:rPr sz="1600">
                <a:solidFill>
                  <a:srgbClr val="101824"/>
                </a:solidFill>
                <a:latin typeface="Consolas"/>
              </a:rPr>
              <a:t>var dlls = modDir.GetFiles("*.dll", SearchOption.AllDirectories);  // RECURSIVE</a:t>
            </a:r>
          </a:p>
          <a:p>
            <a:pPr algn="l"/>
            <a:r>
              <a:rPr sz="1600">
                <a:solidFill>
                  <a:srgbClr val="101824"/>
                </a:solidFill>
                <a:latin typeface="Consolas"/>
              </a:rPr>
              <a:t>foreach (var dll in dlls) {</a:t>
            </a:r>
          </a:p>
          <a:p>
            <a:pPr algn="l"/>
            <a:r>
              <a:rPr sz="1600">
                <a:solidFill>
                  <a:srgbClr val="101824"/>
                </a:solidFill>
                <a:latin typeface="Consolas"/>
              </a:rPr>
              <a:t>    var asm = Assembly.LoadFile(dll.FullName);</a:t>
            </a:r>
          </a:p>
          <a:p>
            <a:pPr algn="l"/>
            <a:r>
              <a:rPr sz="1600">
                <a:solidFill>
                  <a:srgbClr val="101824"/>
                </a:solidFill>
                <a:latin typeface="Consolas"/>
              </a:rPr>
              <a:t>    foreach (var t in asm.GetTypes()) {</a:t>
            </a:r>
          </a:p>
          <a:p>
            <a:pPr algn="l"/>
            <a:r>
              <a:rPr sz="1600">
                <a:solidFill>
                  <a:srgbClr val="101824"/>
                </a:solidFill>
                <a:latin typeface="Consolas"/>
              </a:rPr>
              <a:t>        if (typeof(IModStarter).IsAssignableFrom(t)) {</a:t>
            </a:r>
          </a:p>
          <a:p>
            <a:pPr algn="l"/>
            <a:r>
              <a:rPr sz="1600">
                <a:solidFill>
                  <a:srgbClr val="101824"/>
                </a:solidFill>
                <a:latin typeface="Consolas"/>
              </a:rPr>
              <a:t>            ((IModStarter)Activator.CreateInstance(t)).StartMod(env);</a:t>
            </a:r>
          </a:p>
          <a:p>
            <a:pPr algn="l"/>
            <a:r>
              <a:rPr sz="1600">
                <a:solidFill>
                  <a:srgbClr val="101824"/>
                </a:solidFill>
                <a:latin typeface="Consolas"/>
              </a:rPr>
              <a:t>        }</a:t>
            </a:r>
          </a:p>
          <a:p>
            <a:pPr algn="l"/>
            <a:r>
              <a:rPr sz="1600">
                <a:solidFill>
                  <a:srgbClr val="101824"/>
                </a:solidFill>
                <a:latin typeface="Consolas"/>
              </a:rPr>
              <a:t>    }</a:t>
            </a:r>
          </a:p>
          <a:p>
            <a:pPr algn="l"/>
            <a:r>
              <a:rPr sz="1600">
                <a:solidFill>
                  <a:srgbClr val="101824"/>
                </a:solidFill>
                <a:latin typeface="Consolas"/>
              </a:rPr>
              <a:t>}</a:t>
            </a:r>
          </a:p>
          <a:p>
            <a:pPr algn="l"/>
            <a:r>
              <a:rPr sz="1600">
                <a:solidFill>
                  <a:srgbClr val="101824"/>
                </a:solidFill>
                <a:latin typeface="Consolas"/>
              </a:rPr>
              <a:t>// JSON blueprints in /assets/ are discovered separately via the templates system.</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No installer. The mod IS the folder. Recursive scan is the source of a future gotcha.</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About Timberborn   ·   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Three layers of modding (in increasing difficulty)</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1. Templates — declarative JSON blueprints. No code. Game's content schema.</a:t>
            </a:r>
          </a:p>
          <a:p>
            <a:pPr algn="l" lvl="1">
              <a:spcAft>
                <a:spcPts val="800"/>
              </a:spcAft>
            </a:pPr>
            <a:r>
              <a:rPr sz="1800">
                <a:solidFill>
                  <a:srgbClr val="556070"/>
                </a:solidFill>
                <a:latin typeface="Calibri"/>
              </a:rPr>
              <a:t>    –  Add buildings / change costs / append to lists. Mod #1: Quadruple Platform.</a:t>
            </a:r>
          </a:p>
          <a:p>
            <a:pPr algn="l">
              <a:spcAft>
                <a:spcPts val="800"/>
              </a:spcAft>
            </a:pPr>
            <a:r>
              <a:rPr sz="2200">
                <a:solidFill>
                  <a:srgbClr val="101824"/>
                </a:solidFill>
                <a:latin typeface="Calibri"/>
              </a:rPr>
              <a:t>•  2. Exposed interfaces — plug a class in via DI. The game asks you for behaviour.</a:t>
            </a:r>
          </a:p>
          <a:p>
            <a:pPr algn="l" lvl="1">
              <a:spcAft>
                <a:spcPts val="800"/>
              </a:spcAft>
            </a:pPr>
            <a:r>
              <a:rPr sz="1800">
                <a:solidFill>
                  <a:srgbClr val="556070"/>
                </a:solidFill>
                <a:latin typeface="Calibri"/>
              </a:rPr>
              <a:t>    –  Game has thought about extension here. Mod #2 part A: flow modifier.</a:t>
            </a:r>
          </a:p>
          <a:p>
            <a:pPr algn="l">
              <a:spcAft>
                <a:spcPts val="800"/>
              </a:spcAft>
            </a:pPr>
            <a:r>
              <a:rPr sz="2200">
                <a:solidFill>
                  <a:srgbClr val="101824"/>
                </a:solidFill>
                <a:latin typeface="Calibri"/>
              </a:rPr>
              <a:t>•  3. Harmony patches — rewrite shipped methods at runtime.</a:t>
            </a:r>
          </a:p>
          <a:p>
            <a:pPr algn="l" lvl="1">
              <a:spcAft>
                <a:spcPts val="800"/>
              </a:spcAft>
            </a:pPr>
            <a:r>
              <a:rPr sz="1800">
                <a:solidFill>
                  <a:srgbClr val="556070"/>
                </a:solidFill>
                <a:latin typeface="Calibri"/>
              </a:rPr>
              <a:t>    –  No seam exists. You're the uninvited guest. Mod #2 part B + Mod #3.</a:t>
            </a:r>
          </a:p>
          <a:p>
            <a:pPr algn="l">
              <a:spcAft>
                <a:spcPts val="800"/>
              </a:spcAft>
            </a:pPr>
            <a:r>
              <a:rPr sz="2200">
                <a:solidFill>
                  <a:srgbClr val="101824"/>
                </a:solidFill>
                <a:latin typeface="Calibri"/>
              </a:rPr>
              <a:t/>
            </a:r>
          </a:p>
          <a:p>
            <a:pPr algn="l" lvl="1">
              <a:spcAft>
                <a:spcPts val="800"/>
              </a:spcAft>
            </a:pPr>
            <a:r>
              <a:rPr sz="1800">
                <a:solidFill>
                  <a:srgbClr val="556070"/>
                </a:solidFill>
                <a:latin typeface="Calibri"/>
              </a:rPr>
              <a:t>    –  Reach for layer N only when layer N−1 can't do the job.</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About Timberborn   ·   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Mod #1: Quadruple Platform — 'I want a platform that goes higher than three.'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Timberborn ships Single, Double, and Triple platforms. Stack-three is the limit.</a:t>
            </a:r>
          </a:p>
          <a:p>
            <a:pPr algn="l">
              <a:spcAft>
                <a:spcPts val="800"/>
              </a:spcAft>
            </a:pPr>
            <a:r>
              <a:rPr sz="2200">
                <a:solidFill>
                  <a:srgbClr val="101824"/>
                </a:solidFill>
                <a:latin typeface="Calibri"/>
              </a:rPr>
              <a:t>•  Jasper wanted to build a FOUR-high platform.</a:t>
            </a:r>
          </a:p>
          <a:p>
            <a:pPr algn="l">
              <a:spcAft>
                <a:spcPts val="800"/>
              </a:spcAft>
            </a:pPr>
            <a:r>
              <a:rPr sz="2200">
                <a:solidFill>
                  <a:srgbClr val="101824"/>
                </a:solidFill>
                <a:latin typeface="Calibri"/>
              </a:rPr>
              <a:t>•  First instinct: 'this is a data change, not a code change.'</a:t>
            </a:r>
          </a:p>
          <a:p>
            <a:pPr algn="l" lvl="1">
              <a:spcAft>
                <a:spcPts val="800"/>
              </a:spcAft>
            </a:pPr>
            <a:r>
              <a:rPr sz="1800">
                <a:solidFill>
                  <a:srgbClr val="556070"/>
                </a:solidFill>
                <a:latin typeface="Calibri"/>
              </a:rPr>
              <a:t>    –  The game's content (buildings, recipes, costs, beaver needs) lives in JSON blueprints.</a:t>
            </a:r>
          </a:p>
          <a:p>
            <a:pPr algn="l" lvl="1">
              <a:spcAft>
                <a:spcPts val="800"/>
              </a:spcAft>
            </a:pPr>
            <a:r>
              <a:rPr sz="1800">
                <a:solidFill>
                  <a:srgbClr val="556070"/>
                </a:solidFill>
                <a:latin typeface="Calibri"/>
              </a:rPr>
              <a:t>    –  If we can append a new blueprint and a new 3D model, we're done.</a:t>
            </a:r>
          </a:p>
          <a:p>
            <a:pPr algn="l">
              <a:spcAft>
                <a:spcPts val="800"/>
              </a:spcAft>
            </a:pPr>
            <a:r>
              <a:rPr sz="2200">
                <a:solidFill>
                  <a:srgbClr val="101824"/>
                </a:solidFill>
                <a:latin typeface="Calibri"/>
              </a:rPr>
              <a:t>•  Lives at Mods/Quadruple Platform/ — entirely separate from the Flood Season mod.</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#1: Quadruple Platform   ·   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Templates: how the game knows about buildings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 TemplateCollections/TemplateCollection.Buildings.Folktails.blueprint.json</a:t>
            </a:r>
          </a:p>
          <a:p>
            <a:pPr algn="l"/>
            <a:r>
              <a:rPr sz="1600">
                <a:solidFill>
                  <a:srgbClr val="101824"/>
                </a:solidFill>
                <a:latin typeface="Consolas"/>
              </a:rPr>
              <a:t>{</a:t>
            </a:r>
          </a:p>
          <a:p>
            <a:pPr algn="l"/>
            <a:r>
              <a:rPr sz="1600">
                <a:solidFill>
                  <a:srgbClr val="101824"/>
                </a:solidFill>
                <a:latin typeface="Consolas"/>
              </a:rPr>
              <a:t>  "TemplateCollectionSpec": {</a:t>
            </a:r>
          </a:p>
          <a:p>
            <a:pPr algn="l"/>
            <a:r>
              <a:rPr sz="1600">
                <a:solidFill>
                  <a:srgbClr val="101824"/>
                </a:solidFill>
                <a:latin typeface="Consolas"/>
              </a:rPr>
              <a:t>    "CollectionId": "Buildings.Folktails",</a:t>
            </a:r>
          </a:p>
          <a:p>
            <a:pPr algn="l"/>
            <a:r>
              <a:rPr sz="1600">
                <a:solidFill>
                  <a:srgbClr val="101824"/>
                </a:solidFill>
                <a:latin typeface="Consolas"/>
              </a:rPr>
              <a:t>    "Blueprints#append": [                  // ← the magic suffix</a:t>
            </a:r>
          </a:p>
          <a:p>
            <a:pPr algn="l"/>
            <a:r>
              <a:rPr sz="1600">
                <a:solidFill>
                  <a:srgbClr val="101824"/>
                </a:solidFill>
                <a:latin typeface="Consolas"/>
              </a:rPr>
              <a:t>      "Buildings/Paths/QuadruplePlatform/</a:t>
            </a:r>
          </a:p>
          <a:p>
            <a:pPr algn="l"/>
            <a:r>
              <a:rPr sz="1600">
                <a:solidFill>
                  <a:srgbClr val="101824"/>
                </a:solidFill>
                <a:latin typeface="Consolas"/>
              </a:rPr>
              <a:t>       QuadruplePlatform.Folktails.blueprint"</a:t>
            </a:r>
          </a:p>
          <a:p>
            <a:pPr algn="l"/>
            <a:r>
              <a:rPr sz="1600">
                <a:solidFill>
                  <a:srgbClr val="101824"/>
                </a:solidFill>
                <a:latin typeface="Consolas"/>
              </a:rPr>
              <a:t>    ]</a:t>
            </a:r>
          </a:p>
          <a:p>
            <a:pPr algn="l"/>
            <a:r>
              <a:rPr sz="1600">
                <a:solidFill>
                  <a:srgbClr val="101824"/>
                </a:solidFill>
                <a:latin typeface="Consolas"/>
              </a:rPr>
              <a:t>  }</a:t>
            </a:r>
          </a:p>
          <a:p>
            <a:pPr algn="l"/>
            <a:r>
              <a:rPr sz="1600">
                <a:solidFill>
                  <a:srgbClr val="101824"/>
                </a:solidFill>
                <a:latin typeface="Consolas"/>
              </a:rPr>
              <a:t>}</a:t>
            </a:r>
          </a:p>
          <a:p>
            <a:pPr algn="l"/>
            <a:r>
              <a:rPr sz="1600">
                <a:solidFill>
                  <a:srgbClr val="101824"/>
                </a:solidFill>
                <a:latin typeface="Consolas"/>
              </a:rPr>
              <a:t> </a:t>
            </a:r>
          </a:p>
          <a:p>
            <a:pPr algn="l"/>
            <a:r>
              <a:rPr sz="1600">
                <a:solidFill>
                  <a:srgbClr val="101824"/>
                </a:solidFill>
                <a:latin typeface="Consolas"/>
              </a:rPr>
              <a:t>// '#append' tells the game's content loader: don't OVERRIDE the</a:t>
            </a:r>
          </a:p>
          <a:p>
            <a:pPr algn="l"/>
            <a:r>
              <a:rPr sz="1600">
                <a:solidFill>
                  <a:srgbClr val="101824"/>
                </a:solidFill>
                <a:latin typeface="Consolas"/>
              </a:rPr>
              <a:t>// vanilla list, EXTEND it. We're adding to the Folktails buildings</a:t>
            </a:r>
          </a:p>
          <a:p>
            <a:pPr algn="l"/>
            <a:r>
              <a:rPr sz="1600">
                <a:solidFill>
                  <a:srgbClr val="101824"/>
                </a:solidFill>
                <a:latin typeface="Consolas"/>
              </a:rPr>
              <a:t>// catalogue without touching anything else.</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The `#append` suffix is the whole story. Declarative list-extension via JSON.</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#1: Quadruple Platform   ·   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Quadruple Platform blueprint</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400">
                <a:solidFill>
                  <a:srgbClr val="101824"/>
                </a:solidFill>
                <a:latin typeface="Consolas"/>
              </a:rPr>
              <a:t>// Buildings/.../QuadruplePlatform.Folktails.blueprint.json (excerpt)</a:t>
            </a:r>
          </a:p>
          <a:p>
            <a:pPr algn="l"/>
            <a:r>
              <a:rPr sz="1400">
                <a:solidFill>
                  <a:srgbClr val="101824"/>
                </a:solidFill>
                <a:latin typeface="Consolas"/>
              </a:rPr>
              <a:t>"BuildingSpec": {</a:t>
            </a:r>
          </a:p>
          <a:p>
            <a:pPr algn="l"/>
            <a:r>
              <a:rPr sz="1400">
                <a:solidFill>
                  <a:srgbClr val="101824"/>
                </a:solidFill>
                <a:latin typeface="Consolas"/>
              </a:rPr>
              <a:t>    "BuildingCost": [{"Id": "Plank", "Amount": 12}],</a:t>
            </a:r>
          </a:p>
          <a:p>
            <a:pPr algn="l"/>
            <a:r>
              <a:rPr sz="1400">
                <a:solidFill>
                  <a:srgbClr val="101824"/>
                </a:solidFill>
                <a:latin typeface="Consolas"/>
              </a:rPr>
              <a:t>    "ScienceCost": 250,</a:t>
            </a:r>
          </a:p>
          <a:p>
            <a:pPr algn="l"/>
            <a:r>
              <a:rPr sz="1400">
                <a:solidFill>
                  <a:srgbClr val="101824"/>
                </a:solidFill>
                <a:latin typeface="Consolas"/>
              </a:rPr>
              <a:t>    …</a:t>
            </a:r>
          </a:p>
          <a:p>
            <a:pPr algn="l"/>
            <a:r>
              <a:rPr sz="1400">
                <a:solidFill>
                  <a:srgbClr val="101824"/>
                </a:solidFill>
                <a:latin typeface="Consolas"/>
              </a:rPr>
              <a:t>},</a:t>
            </a:r>
          </a:p>
          <a:p>
            <a:pPr algn="l"/>
            <a:r>
              <a:rPr sz="1400">
                <a:solidFill>
                  <a:srgbClr val="101824"/>
                </a:solidFill>
                <a:latin typeface="Consolas"/>
              </a:rPr>
              <a:t>"BlockObjectSpec": {</a:t>
            </a:r>
          </a:p>
          <a:p>
            <a:pPr algn="l"/>
            <a:r>
              <a:rPr sz="1400">
                <a:solidFill>
                  <a:srgbClr val="101824"/>
                </a:solidFill>
                <a:latin typeface="Consolas"/>
              </a:rPr>
              <a:t>    "Size": {"X": 1, "Y": 1, "Z": 4},     // 1x1 footprint, 4 high</a:t>
            </a:r>
          </a:p>
          <a:p>
            <a:pPr algn="l"/>
            <a:r>
              <a:rPr sz="1400">
                <a:solidFill>
                  <a:srgbClr val="101824"/>
                </a:solidFill>
                <a:latin typeface="Consolas"/>
              </a:rPr>
              <a:t>    "Blocks": [ /* 4 stacked block descriptors */ ],</a:t>
            </a:r>
          </a:p>
          <a:p>
            <a:pPr algn="l"/>
            <a:r>
              <a:rPr sz="1400">
                <a:solidFill>
                  <a:srgbClr val="101824"/>
                </a:solidFill>
                <a:latin typeface="Consolas"/>
              </a:rPr>
              <a:t>    …</a:t>
            </a:r>
          </a:p>
          <a:p>
            <a:pPr algn="l"/>
            <a:r>
              <a:rPr sz="1400">
                <a:solidFill>
                  <a:srgbClr val="101824"/>
                </a:solidFill>
                <a:latin typeface="Consolas"/>
              </a:rPr>
              <a:t>},</a:t>
            </a:r>
          </a:p>
          <a:p>
            <a:pPr algn="l"/>
            <a:r>
              <a:rPr sz="1400">
                <a:solidFill>
                  <a:srgbClr val="101824"/>
                </a:solidFill>
                <a:latin typeface="Consolas"/>
              </a:rPr>
              <a:t>"LabeledEntitySpec": {</a:t>
            </a:r>
          </a:p>
          <a:p>
            <a:pPr algn="l"/>
            <a:r>
              <a:rPr sz="1400">
                <a:solidFill>
                  <a:srgbClr val="101824"/>
                </a:solidFill>
                <a:latin typeface="Consolas"/>
              </a:rPr>
              <a:t>    "DisplayNameLocKey": "Building.QuadruplePlatform.DisplayName",</a:t>
            </a:r>
          </a:p>
          <a:p>
            <a:pPr algn="l"/>
            <a:r>
              <a:rPr sz="1400">
                <a:solidFill>
                  <a:srgbClr val="101824"/>
                </a:solidFill>
                <a:latin typeface="Consolas"/>
              </a:rPr>
              <a:t>    "Icon": "Buildings/.../QuadruplePlatformIcon"</a:t>
            </a:r>
          </a:p>
          <a:p>
            <a:pPr algn="l"/>
            <a:r>
              <a:rPr sz="1400">
                <a:solidFill>
                  <a:srgbClr val="101824"/>
                </a:solidFill>
                <a:latin typeface="Consolas"/>
              </a:rPr>
              <a:t>},</a:t>
            </a:r>
          </a:p>
          <a:p>
            <a:pPr algn="l"/>
            <a:r>
              <a:rPr sz="1400">
                <a:solidFill>
                  <a:srgbClr val="101824"/>
                </a:solidFill>
                <a:latin typeface="Consolas"/>
              </a:rPr>
              <a:t>"Children": {</a:t>
            </a:r>
          </a:p>
          <a:p>
            <a:pPr algn="l"/>
            <a:r>
              <a:rPr sz="1400">
                <a:solidFill>
                  <a:srgbClr val="101824"/>
                </a:solidFill>
                <a:latin typeface="Consolas"/>
              </a:rPr>
              <a:t>    "#Finished":         { "TimbermeshSpec": { "Model": "…" } },</a:t>
            </a:r>
          </a:p>
          <a:p>
            <a:pPr algn="l"/>
            <a:r>
              <a:rPr sz="1400">
                <a:solidFill>
                  <a:srgbClr val="101824"/>
                </a:solidFill>
                <a:latin typeface="Consolas"/>
              </a:rPr>
              <a:t>    "#FinishedUncovered": { "TimbermeshSpec": { "Model": "…" } },</a:t>
            </a:r>
          </a:p>
          <a:p>
            <a:pPr algn="l"/>
            <a:r>
              <a:rPr sz="1400">
                <a:solidFill>
                  <a:srgbClr val="101824"/>
                </a:solidFill>
                <a:latin typeface="Consolas"/>
              </a:rPr>
              <a:t>    "#Unfinished":        { /* construction stages */ }</a:t>
            </a:r>
          </a:p>
          <a:p>
            <a:pPr algn="l"/>
            <a:r>
              <a:rPr sz="14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Cost, footprint, name, icon, models. 200-ish lines of JSON. No code.</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#1: Quadruple Platform   ·   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3D model: protobuf, zlib, no Blender</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400">
                <a:solidFill>
                  <a:srgbClr val="101824"/>
                </a:solidFill>
                <a:latin typeface="Consolas"/>
              </a:rPr>
              <a:t># Mods/Quadruple Platform/generate_models.py  (excerpt)</a:t>
            </a:r>
          </a:p>
          <a:p>
            <a:pPr algn="l"/>
            <a:r>
              <a:rPr sz="1400">
                <a:solidFill>
                  <a:srgbClr val="101824"/>
                </a:solidFill>
                <a:latin typeface="Consolas"/>
              </a:rPr>
              <a:t># The .timbermesh format is zlib-compressed Protocol Buffers (proto3).</a:t>
            </a:r>
          </a:p>
          <a:p>
            <a:pPr algn="l"/>
            <a:r>
              <a:rPr sz="1400">
                <a:solidFill>
                  <a:srgbClr val="101824"/>
                </a:solidFill>
                <a:latin typeface="Consolas"/>
              </a:rPr>
              <a:t># Mechanistry publishes the .proto schema on GitHub:</a:t>
            </a:r>
          </a:p>
          <a:p>
            <a:pPr algn="l"/>
            <a:r>
              <a:rPr sz="1400">
                <a:solidFill>
                  <a:srgbClr val="101824"/>
                </a:solidFill>
                <a:latin typeface="Consolas"/>
              </a:rPr>
              <a:t>#   https://github.com/mechanistry/timbermesh/blob/main/proto/model.proto</a:t>
            </a:r>
          </a:p>
          <a:p>
            <a:pPr algn="l"/>
            <a:r>
              <a:rPr sz="1400">
                <a:solidFill>
                  <a:srgbClr val="101824"/>
                </a:solidFill>
                <a:latin typeface="Consolas"/>
              </a:rPr>
              <a:t> </a:t>
            </a:r>
          </a:p>
          <a:p>
            <a:pPr algn="l"/>
            <a:r>
              <a:rPr sz="1400">
                <a:solidFill>
                  <a:srgbClr val="101824"/>
                </a:solidFill>
                <a:latin typeface="Consolas"/>
              </a:rPr>
              <a:t>def build_node(name, parent, position, rotation, scale,</a:t>
            </a:r>
          </a:p>
          <a:p>
            <a:pPr algn="l"/>
            <a:r>
              <a:rPr sz="1400">
                <a:solidFill>
                  <a:srgbClr val="101824"/>
                </a:solidFill>
                <a:latin typeface="Consolas"/>
              </a:rPr>
              <a:t>               vertex_count, vertex_properties, meshes):</a:t>
            </a:r>
          </a:p>
          <a:p>
            <a:pPr algn="l"/>
            <a:r>
              <a:rPr sz="1400">
                <a:solidFill>
                  <a:srgbClr val="101824"/>
                </a:solidFill>
                <a:latin typeface="Consolas"/>
              </a:rPr>
              <a:t>    result = b""</a:t>
            </a:r>
          </a:p>
          <a:p>
            <a:pPr algn="l"/>
            <a:r>
              <a:rPr sz="1400">
                <a:solidFill>
                  <a:srgbClr val="101824"/>
                </a:solidFill>
                <a:latin typeface="Consolas"/>
              </a:rPr>
              <a:t>    result += field_varint(1, parent)</a:t>
            </a:r>
          </a:p>
          <a:p>
            <a:pPr algn="l"/>
            <a:r>
              <a:rPr sz="1400">
                <a:solidFill>
                  <a:srgbClr val="101824"/>
                </a:solidFill>
                <a:latin typeface="Consolas"/>
              </a:rPr>
              <a:t>    result += field_string(2, name)</a:t>
            </a:r>
          </a:p>
          <a:p>
            <a:pPr algn="l"/>
            <a:r>
              <a:rPr sz="1400">
                <a:solidFill>
                  <a:srgbClr val="101824"/>
                </a:solidFill>
                <a:latin typeface="Consolas"/>
              </a:rPr>
              <a:t>    result += field_message(3, build_vector3(*position))</a:t>
            </a:r>
          </a:p>
          <a:p>
            <a:pPr algn="l"/>
            <a:r>
              <a:rPr sz="1400">
                <a:solidFill>
                  <a:srgbClr val="101824"/>
                </a:solidFill>
                <a:latin typeface="Consolas"/>
              </a:rPr>
              <a:t>    result += field_message(4, build_quaternion(*rotation))</a:t>
            </a:r>
          </a:p>
          <a:p>
            <a:pPr algn="l"/>
            <a:r>
              <a:rPr sz="1400">
                <a:solidFill>
                  <a:srgbClr val="101824"/>
                </a:solidFill>
                <a:latin typeface="Consolas"/>
              </a:rPr>
              <a:t>    result += field_message(5, build_vector3(*scale))</a:t>
            </a:r>
          </a:p>
          <a:p>
            <a:pPr algn="l"/>
            <a:r>
              <a:rPr sz="1400">
                <a:solidFill>
                  <a:srgbClr val="101824"/>
                </a:solidFill>
                <a:latin typeface="Consolas"/>
              </a:rPr>
              <a:t>    result += field_varint(6, vertex_count)</a:t>
            </a:r>
          </a:p>
          <a:p>
            <a:pPr algn="l"/>
            <a:r>
              <a:rPr sz="1400">
                <a:solidFill>
                  <a:srgbClr val="101824"/>
                </a:solidFill>
                <a:latin typeface="Consolas"/>
              </a:rPr>
              <a:t>    for vp in vertex_properties: result += field_message(7, vp)</a:t>
            </a:r>
          </a:p>
          <a:p>
            <a:pPr algn="l"/>
            <a:r>
              <a:rPr sz="1400">
                <a:solidFill>
                  <a:srgbClr val="101824"/>
                </a:solidFill>
                <a:latin typeface="Consolas"/>
              </a:rPr>
              <a:t>    for mesh in meshes:          result += field_message(8, mesh)</a:t>
            </a:r>
          </a:p>
          <a:p>
            <a:pPr algn="l"/>
            <a:r>
              <a:rPr sz="1400">
                <a:solidFill>
                  <a:srgbClr val="101824"/>
                </a:solidFill>
                <a:latin typeface="Consolas"/>
              </a:rPr>
              <a:t>    return result</a:t>
            </a:r>
          </a:p>
          <a:p>
            <a:pPr algn="l"/>
            <a:r>
              <a:rPr sz="1400">
                <a:solidFill>
                  <a:srgbClr val="101824"/>
                </a:solidFill>
                <a:latin typeface="Consolas"/>
              </a:rPr>
              <a:t> </a:t>
            </a:r>
          </a:p>
          <a:p>
            <a:pPr algn="l"/>
            <a:r>
              <a:rPr sz="1400">
                <a:solidFill>
                  <a:srgbClr val="101824"/>
                </a:solidFill>
                <a:latin typeface="Consolas"/>
              </a:rPr>
              <a:t># I described what I wanted: "a Quadruple Platform, mirroring the</a:t>
            </a:r>
          </a:p>
          <a:p>
            <a:pPr algn="l"/>
            <a:r>
              <a:rPr sz="1400">
                <a:solidFill>
                  <a:srgbClr val="101824"/>
                </a:solidFill>
                <a:latin typeface="Consolas"/>
              </a:rPr>
              <a:t># Triple, four pillars and a top slab." Claude wrote the whole</a:t>
            </a:r>
          </a:p>
          <a:p>
            <a:pPr algn="l"/>
            <a:r>
              <a:rPr sz="1400">
                <a:solidFill>
                  <a:srgbClr val="101824"/>
                </a:solidFill>
                <a:latin typeface="Consolas"/>
              </a:rPr>
              <a:t># script — protobuf encoding included. It picked its own textures.</a:t>
            </a:r>
          </a:p>
          <a:p>
            <a:pPr algn="l"/>
            <a:r>
              <a:rPr sz="1400">
                <a:solidFill>
                  <a:srgbClr val="101824"/>
                </a:solidFill>
                <a:latin typeface="Consolas"/>
              </a:rPr>
              <a:t># (Reader: those textures are... distinctive.)</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AI wrote the script from a description. AI also picked the textures. Result: funky.</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#1: Quadruple Platform   ·   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406E"/>
        </a:solidFill>
        <a:effectLst/>
      </p:bgPr>
    </p:bg>
    <p:spTree>
      <p:nvGrpSpPr>
        <p:cNvPr id="1" name=""/>
        <p:cNvGrpSpPr/>
        <p:nvPr/>
      </p:nvGrpSpPr>
      <p:grpSpPr/>
      <p:sp>
        <p:nvSpPr>
          <p:cNvPr id="2" name="TextBox 1"/>
          <p:cNvSpPr txBox="1"/>
          <p:nvPr/>
        </p:nvSpPr>
        <p:spPr>
          <a:xfrm>
            <a:off x="548640" y="457200"/>
            <a:ext cx="11094415" cy="914400"/>
          </a:xfrm>
          <a:prstGeom prst="rect">
            <a:avLst/>
          </a:prstGeom>
          <a:noFill/>
        </p:spPr>
        <p:txBody>
          <a:bodyPr wrap="square" anchor="ctr">
            <a:spAutoFit/>
          </a:bodyPr>
          <a:lstStyle/>
          <a:p>
            <a:pPr algn="l"/>
            <a:r>
              <a:rPr sz="1800" b="1">
                <a:solidFill>
                  <a:srgbClr val="AADCF0"/>
                </a:solidFill>
                <a:latin typeface="Calibri Light"/>
              </a:rPr>
              <a:t>LIVE DEMO</a:t>
            </a:r>
          </a:p>
        </p:txBody>
      </p:sp>
      <p:sp>
        <p:nvSpPr>
          <p:cNvPr id="3" name="TextBox 2"/>
          <p:cNvSpPr txBox="1"/>
          <p:nvPr/>
        </p:nvSpPr>
        <p:spPr>
          <a:xfrm>
            <a:off x="548640" y="1280160"/>
            <a:ext cx="11094415" cy="1097280"/>
          </a:xfrm>
          <a:prstGeom prst="rect">
            <a:avLst/>
          </a:prstGeom>
          <a:noFill/>
        </p:spPr>
        <p:txBody>
          <a:bodyPr wrap="square" anchor="ctr">
            <a:spAutoFit/>
          </a:bodyPr>
          <a:lstStyle/>
          <a:p>
            <a:pPr algn="l"/>
            <a:r>
              <a:rPr sz="4400" b="1">
                <a:solidFill>
                  <a:srgbClr val="F4F7FB"/>
                </a:solidFill>
                <a:latin typeface="Calibri Light"/>
              </a:rPr>
              <a:t>This is with a Quadruple Platform</a:t>
            </a:r>
          </a:p>
        </p:txBody>
      </p:sp>
      <p:sp>
        <p:nvSpPr>
          <p:cNvPr id="4" name="TextBox 3"/>
          <p:cNvSpPr txBox="1"/>
          <p:nvPr/>
        </p:nvSpPr>
        <p:spPr>
          <a:xfrm>
            <a:off x="548640" y="2926080"/>
            <a:ext cx="11094415" cy="3200400"/>
          </a:xfrm>
          <a:prstGeom prst="rect">
            <a:avLst/>
          </a:prstGeom>
          <a:noFill/>
        </p:spPr>
        <p:txBody>
          <a:bodyPr wrap="square">
            <a:spAutoFit/>
          </a:bodyPr>
          <a:lstStyle/>
          <a:p>
            <a:pPr algn="l">
              <a:spcAft>
                <a:spcPts val="1000"/>
              </a:spcAft>
            </a:pPr>
            <a:r>
              <a:rPr sz="2000">
                <a:solidFill>
                  <a:srgbClr val="F4F7FB"/>
                </a:solidFill>
                <a:latin typeface="Calibri"/>
              </a:rPr>
              <a:t>1.  Switch to Timberborn — Folktails base loaded, building menu open.</a:t>
            </a:r>
          </a:p>
          <a:p>
            <a:pPr algn="l">
              <a:spcAft>
                <a:spcPts val="1000"/>
              </a:spcAft>
            </a:pPr>
            <a:r>
              <a:rPr sz="2000">
                <a:solidFill>
                  <a:srgbClr val="F4F7FB"/>
                </a:solidFill>
                <a:latin typeface="Calibri"/>
              </a:rPr>
              <a:t>2.  Paths group → Quadruple Platform appears with its (AI-textured) icon.</a:t>
            </a:r>
          </a:p>
          <a:p>
            <a:pPr algn="l">
              <a:spcAft>
                <a:spcPts val="1000"/>
              </a:spcAft>
            </a:pPr>
            <a:r>
              <a:rPr sz="2000">
                <a:solidFill>
                  <a:srgbClr val="F4F7FB"/>
                </a:solidFill>
                <a:latin typeface="Calibri"/>
              </a:rPr>
              <a:t>3.  Place one on flat ground. Beavers haul planks. Construction stages through.</a:t>
            </a:r>
          </a:p>
          <a:p>
            <a:pPr algn="l">
              <a:spcAft>
                <a:spcPts val="1000"/>
              </a:spcAft>
            </a:pPr>
            <a:r>
              <a:rPr sz="2000">
                <a:solidFill>
                  <a:srgbClr val="F4F7FB"/>
                </a:solidFill>
                <a:latin typeface="Calibri"/>
              </a:rPr>
              <a:t>4.  Stand the platform next to a vanilla Triple — the 4-high difference is obvious.</a:t>
            </a:r>
          </a:p>
          <a:p>
            <a:pPr algn="l">
              <a:spcAft>
                <a:spcPts val="1000"/>
              </a:spcAft>
            </a:pPr>
            <a:r>
              <a:rPr sz="2000">
                <a:solidFill>
                  <a:srgbClr val="F4F7FB"/>
                </a:solidFill>
                <a:latin typeface="Calibri"/>
              </a:rPr>
              <a:t>5.  Pause on the textures for the laugh.</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#1: Quadruple Platform   ·   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2286000"/>
          </a:xfrm>
          <a:prstGeom prst="rect">
            <a:avLst/>
          </a:prstGeom>
          <a:noFill/>
        </p:spPr>
        <p:txBody>
          <a:bodyPr wrap="square" anchor="ctr">
            <a:spAutoFit/>
          </a:bodyPr>
          <a:lstStyle/>
          <a:p>
            <a:pPr algn="ctr"/>
            <a:r>
              <a:rPr sz="4000" b="0">
                <a:solidFill>
                  <a:srgbClr val="F4F7FB"/>
                </a:solidFill>
                <a:latin typeface="Calibri Light"/>
              </a:rPr>
              <a:t>“Dad, what if there was too much water?”</a:t>
            </a:r>
          </a:p>
        </p:txBody>
      </p:sp>
      <p:sp>
        <p:nvSpPr>
          <p:cNvPr id="3" name="TextBox 2"/>
          <p:cNvSpPr txBox="1"/>
          <p:nvPr/>
        </p:nvSpPr>
        <p:spPr>
          <a:xfrm>
            <a:off x="548640" y="4297680"/>
            <a:ext cx="11094415" cy="731520"/>
          </a:xfrm>
          <a:prstGeom prst="rect">
            <a:avLst/>
          </a:prstGeom>
          <a:noFill/>
        </p:spPr>
        <p:txBody>
          <a:bodyPr wrap="square" anchor="ctr">
            <a:spAutoFit/>
          </a:bodyPr>
          <a:lstStyle/>
          <a:p>
            <a:pPr algn="ctr"/>
            <a:r>
              <a:rPr sz="2200" b="0">
                <a:solidFill>
                  <a:srgbClr val="AADCF0"/>
                </a:solidFill>
                <a:latin typeface="Calibri"/>
              </a:rPr>
              <a:t>— Jasper, feature request #2</a:t>
            </a:r>
          </a:p>
        </p:txBody>
      </p:sp>
      <p:sp>
        <p:nvSpPr>
          <p:cNvPr id="4" name="TextBox 3"/>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Step zero: read the source you don't have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 dotnet tool install -g ilspycmd</a:t>
            </a:r>
          </a:p>
          <a:p>
            <a:pPr algn="l"/>
            <a:r>
              <a:rPr sz="1600">
                <a:solidFill>
                  <a:srgbClr val="101824"/>
                </a:solidFill>
                <a:latin typeface="Consolas"/>
              </a:rPr>
              <a:t>$ ilspycmd -p -o ~/decomp/WaterSourceSystem \</a:t>
            </a:r>
          </a:p>
          <a:p>
            <a:pPr algn="l"/>
            <a:r>
              <a:rPr sz="1600">
                <a:solidFill>
                  <a:srgbClr val="101824"/>
                </a:solidFill>
                <a:latin typeface="Consolas"/>
              </a:rPr>
              <a:t>    "…/Timberborn_Data/Managed/Timberborn.WaterSourceSystem.dll"</a:t>
            </a:r>
          </a:p>
          <a:p>
            <a:pPr algn="l"/>
            <a:r>
              <a:rPr sz="1600">
                <a:solidFill>
                  <a:srgbClr val="101824"/>
                </a:solidFill>
                <a:latin typeface="Consolas"/>
              </a:rPr>
              <a:t> </a:t>
            </a:r>
          </a:p>
          <a:p>
            <a:pPr algn="l"/>
            <a:r>
              <a:rPr sz="1600">
                <a:solidFill>
                  <a:srgbClr val="101824"/>
                </a:solidFill>
                <a:latin typeface="Consolas"/>
              </a:rPr>
              <a:t># Result: a tree of readable .cs files. Mechanistry doesn't obfuscate.</a:t>
            </a:r>
          </a:p>
          <a:p>
            <a:pPr algn="l"/>
            <a:r>
              <a:rPr sz="1600">
                <a:solidFill>
                  <a:srgbClr val="101824"/>
                </a:solidFill>
                <a:latin typeface="Consolas"/>
              </a:rPr>
              <a:t># Greppable. Diff-able. Not source-of-truth, but very close.</a:t>
            </a:r>
          </a:p>
          <a:p>
            <a:pPr algn="l"/>
            <a:r>
              <a:rPr sz="1600">
                <a:solidFill>
                  <a:srgbClr val="101824"/>
                </a:solidFill>
                <a:latin typeface="Consolas"/>
              </a:rPr>
              <a:t> </a:t>
            </a:r>
          </a:p>
          <a:p>
            <a:pPr algn="l"/>
            <a:r>
              <a:rPr sz="1600">
                <a:solidFill>
                  <a:srgbClr val="101824"/>
                </a:solidFill>
                <a:latin typeface="Consolas"/>
              </a:rPr>
              <a:t>$ grep -rn "IWaterStrengthModifier" decomp/WaterSourceSystem/</a:t>
            </a:r>
          </a:p>
          <a:p>
            <a:pPr algn="l"/>
            <a:r>
              <a:rPr sz="1600">
                <a:solidFill>
                  <a:srgbClr val="101824"/>
                </a:solidFill>
                <a:latin typeface="Consolas"/>
              </a:rPr>
              <a:t>    IWaterStrengthModifier.cs:5:    public interface IWaterStrengthModifier</a:t>
            </a:r>
          </a:p>
          <a:p>
            <a:pPr algn="l"/>
            <a:r>
              <a:rPr sz="1600">
                <a:solidFill>
                  <a:srgbClr val="101824"/>
                </a:solidFill>
                <a:latin typeface="Consolas"/>
              </a:rPr>
              <a:t>    WaterSource.cs:42:    private readonly List&lt;IWaterStrengthModifier&gt;</a:t>
            </a:r>
          </a:p>
          <a:p>
            <a:pPr algn="l"/>
            <a:r>
              <a:rPr sz="1600">
                <a:solidFill>
                  <a:srgbClr val="101824"/>
                </a:solidFill>
                <a:latin typeface="Consolas"/>
              </a:rPr>
              <a:t>    WaterSource.cs:149:    foreach (IWaterStrengthModifier waterStrengthModifier</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The whole workflow: decompile, grep, find the seam.</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seam: IWaterStrengthModifier</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 Timberborn.WaterSourceSystem (vanilla, decompiled)</a:t>
            </a:r>
          </a:p>
          <a:p>
            <a:pPr algn="l"/>
            <a:r>
              <a:rPr sz="1600">
                <a:solidFill>
                  <a:srgbClr val="101824"/>
                </a:solidFill>
                <a:latin typeface="Consolas"/>
              </a:rPr>
              <a:t>public interface IWaterStrengthModifier {</a:t>
            </a:r>
          </a:p>
          <a:p>
            <a:pPr algn="l"/>
            <a:r>
              <a:rPr sz="1600">
                <a:solidFill>
                  <a:srgbClr val="101824"/>
                </a:solidFill>
                <a:latin typeface="Consolas"/>
              </a:rPr>
              <a:t>    float GetStrengthModifier();</a:t>
            </a:r>
          </a:p>
          <a:p>
            <a:pPr algn="l"/>
            <a:r>
              <a:rPr sz="1600">
                <a:solidFill>
                  <a:srgbClr val="101824"/>
                </a:solidFill>
                <a:latin typeface="Consolas"/>
              </a:rPr>
              <a:t>}</a:t>
            </a:r>
          </a:p>
          <a:p>
            <a:pPr algn="l"/>
            <a:r>
              <a:rPr sz="1600">
                <a:solidFill>
                  <a:srgbClr val="101824"/>
                </a:solidFill>
                <a:latin typeface="Consolas"/>
              </a:rPr>
              <a:t> </a:t>
            </a:r>
          </a:p>
          <a:p>
            <a:pPr algn="l"/>
            <a:r>
              <a:rPr sz="1600">
                <a:solidFill>
                  <a:srgbClr val="101824"/>
                </a:solidFill>
                <a:latin typeface="Consolas"/>
              </a:rPr>
              <a:t>// WaterSource ticks every game tick and composes ALL modifiers:</a:t>
            </a:r>
          </a:p>
          <a:p>
            <a:pPr algn="l"/>
            <a:r>
              <a:rPr sz="1600">
                <a:solidFill>
                  <a:srgbClr val="101824"/>
                </a:solidFill>
                <a:latin typeface="Consolas"/>
              </a:rPr>
              <a:t>private void UpdateCurrentStrength() {</a:t>
            </a:r>
          </a:p>
          <a:p>
            <a:pPr algn="l"/>
            <a:r>
              <a:rPr sz="1600">
                <a:solidFill>
                  <a:srgbClr val="101824"/>
                </a:solidFill>
                <a:latin typeface="Consolas"/>
              </a:rPr>
              <a:t>    float num = SpecifiedStrength;</a:t>
            </a:r>
          </a:p>
          <a:p>
            <a:pPr algn="l"/>
            <a:r>
              <a:rPr sz="1600">
                <a:solidFill>
                  <a:srgbClr val="101824"/>
                </a:solidFill>
                <a:latin typeface="Consolas"/>
              </a:rPr>
              <a:t>    foreach (IWaterStrengthModifier m in _waterStrengthModifiers) {</a:t>
            </a:r>
          </a:p>
          <a:p>
            <a:pPr algn="l"/>
            <a:r>
              <a:rPr sz="1600">
                <a:solidFill>
                  <a:srgbClr val="101824"/>
                </a:solidFill>
                <a:latin typeface="Consolas"/>
              </a:rPr>
              <a:t>        num *= m.GetStrengthModifier();   // multiplicative chain</a:t>
            </a:r>
          </a:p>
          <a:p>
            <a:pPr algn="l"/>
            <a:r>
              <a:rPr sz="1600">
                <a:solidFill>
                  <a:srgbClr val="101824"/>
                </a:solidFill>
                <a:latin typeface="Consolas"/>
              </a:rPr>
              <a:t>    }</a:t>
            </a:r>
          </a:p>
          <a:p>
            <a:pPr algn="l"/>
            <a:r>
              <a:rPr sz="1600">
                <a:solidFill>
                  <a:srgbClr val="101824"/>
                </a:solidFill>
                <a:latin typeface="Consolas"/>
              </a:rPr>
              <a:t>    SetCurrentStrength(num);</a:t>
            </a:r>
          </a:p>
          <a:p>
            <a:pPr algn="l"/>
            <a:r>
              <a:rPr sz="16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Drought ships its own IWaterStrengthModifier. We just register one more.</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Our modifier — boost flow during temperate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internal class FloodSeasonWaterStrengthModifier</a:t>
            </a:r>
          </a:p>
          <a:p>
            <a:pPr algn="l"/>
            <a:r>
              <a:rPr sz="1600">
                <a:solidFill>
                  <a:srgbClr val="101824"/>
                </a:solidFill>
                <a:latin typeface="Consolas"/>
              </a:rPr>
              <a:t>    : BaseComponent, IAwakableComponent, IInitializableEntity,</a:t>
            </a:r>
          </a:p>
          <a:p>
            <a:pPr algn="l"/>
            <a:r>
              <a:rPr sz="1600">
                <a:solidFill>
                  <a:srgbClr val="101824"/>
                </a:solidFill>
                <a:latin typeface="Consolas"/>
              </a:rPr>
              <a:t>      IWaterStrengthModifier {</a:t>
            </a:r>
          </a:p>
          <a:p>
            <a:pPr algn="l"/>
            <a:r>
              <a:rPr sz="1600">
                <a:solidFill>
                  <a:srgbClr val="101824"/>
                </a:solidFill>
                <a:latin typeface="Consolas"/>
              </a:rPr>
              <a:t> </a:t>
            </a:r>
          </a:p>
          <a:p>
            <a:pPr algn="l"/>
            <a:r>
              <a:rPr sz="1600">
                <a:solidFill>
                  <a:srgbClr val="101824"/>
                </a:solidFill>
                <a:latin typeface="Consolas"/>
              </a:rPr>
              <a:t>    private readonly WeatherService _weatherService;</a:t>
            </a:r>
          </a:p>
          <a:p>
            <a:pPr algn="l"/>
            <a:r>
              <a:rPr sz="1600">
                <a:solidFill>
                  <a:srgbClr val="101824"/>
                </a:solidFill>
                <a:latin typeface="Consolas"/>
              </a:rPr>
              <a:t>    private readonly FloodSeasonSettings _settings;</a:t>
            </a:r>
          </a:p>
          <a:p>
            <a:pPr algn="l"/>
            <a:r>
              <a:rPr sz="1600">
                <a:solidFill>
                  <a:srgbClr val="101824"/>
                </a:solidFill>
                <a:latin typeface="Consolas"/>
              </a:rPr>
              <a:t> </a:t>
            </a:r>
          </a:p>
          <a:p>
            <a:pPr algn="l"/>
            <a:r>
              <a:rPr sz="1600">
                <a:solidFill>
                  <a:srgbClr val="101824"/>
                </a:solidFill>
                <a:latin typeface="Consolas"/>
              </a:rPr>
              <a:t>    public float GetStrengthModifier() {</a:t>
            </a:r>
          </a:p>
          <a:p>
            <a:pPr algn="l"/>
            <a:r>
              <a:rPr sz="1600">
                <a:solidFill>
                  <a:srgbClr val="101824"/>
                </a:solidFill>
                <a:latin typeface="Consolas"/>
              </a:rPr>
              <a:t>        if (_weatherService.IsHazardousWeather) {</a:t>
            </a:r>
          </a:p>
          <a:p>
            <a:pPr algn="l"/>
            <a:r>
              <a:rPr sz="1600">
                <a:solidFill>
                  <a:srgbClr val="101824"/>
                </a:solidFill>
                <a:latin typeface="Consolas"/>
              </a:rPr>
              <a:t>            return 1.0f;   // hazardous phase: don't touch flow</a:t>
            </a:r>
          </a:p>
          <a:p>
            <a:pPr algn="l"/>
            <a:r>
              <a:rPr sz="1600">
                <a:solidFill>
                  <a:srgbClr val="101824"/>
                </a:solidFill>
                <a:latin typeface="Consolas"/>
              </a:rPr>
              <a:t>        }</a:t>
            </a:r>
          </a:p>
          <a:p>
            <a:pPr algn="l"/>
            <a:r>
              <a:rPr sz="1600">
                <a:solidFill>
                  <a:srgbClr val="101824"/>
                </a:solidFill>
                <a:latin typeface="Consolas"/>
              </a:rPr>
              <a:t>        return _settings.TemperateMultiplier;   // wetter wet seasons</a:t>
            </a:r>
          </a:p>
          <a:p>
            <a:pPr algn="l"/>
            <a:r>
              <a:rPr sz="1600">
                <a:solidFill>
                  <a:srgbClr val="101824"/>
                </a:solidFill>
                <a:latin typeface="Consolas"/>
              </a:rPr>
              <a:t>    }</a:t>
            </a:r>
          </a:p>
          <a:p>
            <a:pPr algn="l"/>
            <a:r>
              <a:rPr sz="16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That's the whole mechanic. ~15 lines. We'll extend the class later as new requests land.</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Wiring it all up: Bindito DI + TemplateModule + ModSettings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[Context("Game")]                       // auto-discovered by Bindito</a:t>
            </a:r>
          </a:p>
          <a:p>
            <a:pPr algn="l"/>
            <a:r>
              <a:rPr sz="1600">
                <a:solidFill>
                  <a:srgbClr val="101824"/>
                </a:solidFill>
                <a:latin typeface="Consolas"/>
              </a:rPr>
              <a:t>internal class FloodSeasonConfigurator : Configurator {</a:t>
            </a:r>
          </a:p>
          <a:p>
            <a:pPr algn="l"/>
            <a:r>
              <a:rPr sz="1600">
                <a:solidFill>
                  <a:srgbClr val="101824"/>
                </a:solidFill>
                <a:latin typeface="Consolas"/>
              </a:rPr>
              <a:t>    protected override void Configure() {</a:t>
            </a:r>
          </a:p>
          <a:p>
            <a:pPr algn="l"/>
            <a:r>
              <a:rPr sz="1600">
                <a:solidFill>
                  <a:srgbClr val="101824"/>
                </a:solidFill>
                <a:latin typeface="Consolas"/>
              </a:rPr>
              <a:t>        Bind&lt;FloodSeasonSettings&gt;().AsSingleton();    // ← UI panel</a:t>
            </a:r>
          </a:p>
          <a:p>
            <a:pPr algn="l"/>
            <a:r>
              <a:rPr sz="1600">
                <a:solidFill>
                  <a:srgbClr val="101824"/>
                </a:solidFill>
                <a:latin typeface="Consolas"/>
              </a:rPr>
              <a:t>        Bind&lt;FloodSeasonWaterStrengthModifier&gt;().AsTransient();</a:t>
            </a:r>
          </a:p>
          <a:p>
            <a:pPr algn="l"/>
            <a:r>
              <a:rPr sz="1600">
                <a:solidFill>
                  <a:srgbClr val="101824"/>
                </a:solidFill>
                <a:latin typeface="Consolas"/>
              </a:rPr>
              <a:t>        MultiBind&lt;TemplateModule&gt;()</a:t>
            </a:r>
          </a:p>
          <a:p>
            <a:pPr algn="l"/>
            <a:r>
              <a:rPr sz="1600">
                <a:solidFill>
                  <a:srgbClr val="101824"/>
                </a:solidFill>
                <a:latin typeface="Consolas"/>
              </a:rPr>
              <a:t>            .ToProvider(ProvideTemplateModule).AsSingleton();</a:t>
            </a:r>
          </a:p>
          <a:p>
            <a:pPr algn="l"/>
            <a:r>
              <a:rPr sz="1600">
                <a:solidFill>
                  <a:srgbClr val="101824"/>
                </a:solidFill>
                <a:latin typeface="Consolas"/>
              </a:rPr>
              <a:t>    }</a:t>
            </a:r>
          </a:p>
          <a:p>
            <a:pPr algn="l"/>
            <a:r>
              <a:rPr sz="1600">
                <a:solidFill>
                  <a:srgbClr val="101824"/>
                </a:solidFill>
                <a:latin typeface="Consolas"/>
              </a:rPr>
              <a:t>    private static TemplateModule ProvideTemplateModule() {</a:t>
            </a:r>
          </a:p>
          <a:p>
            <a:pPr algn="l"/>
            <a:r>
              <a:rPr sz="1600">
                <a:solidFill>
                  <a:srgbClr val="101824"/>
                </a:solidFill>
                <a:latin typeface="Consolas"/>
              </a:rPr>
              <a:t>        var b = new TemplateModule.Builder();</a:t>
            </a:r>
          </a:p>
          <a:p>
            <a:pPr algn="l"/>
            <a:r>
              <a:rPr sz="1600">
                <a:solidFill>
                  <a:srgbClr val="101824"/>
                </a:solidFill>
                <a:latin typeface="Consolas"/>
              </a:rPr>
              <a:t>        // "For every WaterSource entity spawned, attach a modifier."</a:t>
            </a:r>
          </a:p>
          <a:p>
            <a:pPr algn="l"/>
            <a:r>
              <a:rPr sz="1600">
                <a:solidFill>
                  <a:srgbClr val="101824"/>
                </a:solidFill>
                <a:latin typeface="Consolas"/>
              </a:rPr>
              <a:t>        b.AddDecorator&lt;WaterSource, FloodSeasonWaterStrengthModifier&gt;();</a:t>
            </a:r>
          </a:p>
          <a:p>
            <a:pPr algn="l"/>
            <a:r>
              <a:rPr sz="1600">
                <a:solidFill>
                  <a:srgbClr val="101824"/>
                </a:solidFill>
                <a:latin typeface="Consolas"/>
              </a:rPr>
              <a:t>        return b.Build();</a:t>
            </a:r>
          </a:p>
          <a:p>
            <a:pPr algn="l"/>
            <a:r>
              <a:rPr sz="1600">
                <a:solidFill>
                  <a:srgbClr val="101824"/>
                </a:solidFill>
                <a:latin typeface="Consolas"/>
              </a:rPr>
              <a:t>    }</a:t>
            </a:r>
          </a:p>
          <a:p>
            <a:pPr algn="l"/>
            <a:r>
              <a:rPr sz="1600">
                <a:solidFill>
                  <a:srgbClr val="101824"/>
                </a:solidFill>
                <a:latin typeface="Consolas"/>
              </a:rPr>
              <a:t>}</a:t>
            </a:r>
          </a:p>
          <a:p>
            <a:pPr algn="l"/>
            <a:r>
              <a:rPr sz="1600">
                <a:solidFill>
                  <a:srgbClr val="101824"/>
                </a:solidFill>
                <a:latin typeface="Consolas"/>
              </a:rPr>
              <a:t>// FloodSeasonSettings : ModSettingsOwner (from eMka.ModSettings)</a:t>
            </a:r>
          </a:p>
          <a:p>
            <a:pPr algn="l"/>
            <a:r>
              <a:rPr sz="1600">
                <a:solidFill>
                  <a:srgbClr val="101824"/>
                </a:solidFill>
                <a:latin typeface="Consolas"/>
              </a:rPr>
              <a:t>//   public ModSetting&lt;int&gt; TemperateMultiplierPercent { get; } = ...;</a:t>
            </a:r>
          </a:p>
          <a:p>
            <a:pPr algn="l"/>
            <a:r>
              <a:rPr sz="1600">
                <a:solidFill>
                  <a:srgbClr val="101824"/>
                </a:solidFill>
                <a:latin typeface="Consolas"/>
              </a:rPr>
              <a:t>//   UI controls auto-rendered from public ModSetting&lt;T&gt; properties.</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DI + decorator pattern + reflection-driven settings UI. Three layers in 15 lines.</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406E"/>
        </a:solidFill>
        <a:effectLst/>
      </p:bgPr>
    </p:bg>
    <p:spTree>
      <p:nvGrpSpPr>
        <p:cNvPr id="1" name=""/>
        <p:cNvGrpSpPr/>
        <p:nvPr/>
      </p:nvGrpSpPr>
      <p:grpSpPr/>
      <p:sp>
        <p:nvSpPr>
          <p:cNvPr id="2" name="TextBox 1"/>
          <p:cNvSpPr txBox="1"/>
          <p:nvPr/>
        </p:nvSpPr>
        <p:spPr>
          <a:xfrm>
            <a:off x="548640" y="457200"/>
            <a:ext cx="11094415" cy="914400"/>
          </a:xfrm>
          <a:prstGeom prst="rect">
            <a:avLst/>
          </a:prstGeom>
          <a:noFill/>
        </p:spPr>
        <p:txBody>
          <a:bodyPr wrap="square" anchor="ctr">
            <a:spAutoFit/>
          </a:bodyPr>
          <a:lstStyle/>
          <a:p>
            <a:pPr algn="l"/>
            <a:r>
              <a:rPr sz="1800" b="1">
                <a:solidFill>
                  <a:srgbClr val="AADCF0"/>
                </a:solidFill>
                <a:latin typeface="Calibri Light"/>
              </a:rPr>
              <a:t>LIVE DEMO</a:t>
            </a:r>
          </a:p>
        </p:txBody>
      </p:sp>
      <p:sp>
        <p:nvSpPr>
          <p:cNvPr id="3" name="TextBox 2"/>
          <p:cNvSpPr txBox="1"/>
          <p:nvPr/>
        </p:nvSpPr>
        <p:spPr>
          <a:xfrm>
            <a:off x="548640" y="1280160"/>
            <a:ext cx="11094415" cy="1097280"/>
          </a:xfrm>
          <a:prstGeom prst="rect">
            <a:avLst/>
          </a:prstGeom>
          <a:noFill/>
        </p:spPr>
        <p:txBody>
          <a:bodyPr wrap="square" anchor="ctr">
            <a:spAutoFit/>
          </a:bodyPr>
          <a:lstStyle/>
          <a:p>
            <a:pPr algn="l"/>
            <a:r>
              <a:rPr sz="4400" b="1">
                <a:solidFill>
                  <a:srgbClr val="F4F7FB"/>
                </a:solidFill>
                <a:latin typeface="Calibri Light"/>
              </a:rPr>
              <a:t>This is with temperate flow increased</a:t>
            </a:r>
          </a:p>
        </p:txBody>
      </p:sp>
      <p:sp>
        <p:nvSpPr>
          <p:cNvPr id="4" name="TextBox 3"/>
          <p:cNvSpPr txBox="1"/>
          <p:nvPr/>
        </p:nvSpPr>
        <p:spPr>
          <a:xfrm>
            <a:off x="548640" y="2926080"/>
            <a:ext cx="11094415" cy="3200400"/>
          </a:xfrm>
          <a:prstGeom prst="rect">
            <a:avLst/>
          </a:prstGeom>
          <a:noFill/>
        </p:spPr>
        <p:txBody>
          <a:bodyPr wrap="square">
            <a:spAutoFit/>
          </a:bodyPr>
          <a:lstStyle/>
          <a:p>
            <a:pPr algn="l">
              <a:spcAft>
                <a:spcPts val="1000"/>
              </a:spcAft>
            </a:pPr>
            <a:r>
              <a:rPr sz="2000">
                <a:solidFill>
                  <a:srgbClr val="F4F7FB"/>
                </a:solidFill>
                <a:latin typeface="Calibri"/>
              </a:rPr>
              <a:t>1.  Open Mod Settings panel in-game.</a:t>
            </a:r>
          </a:p>
          <a:p>
            <a:pPr algn="l">
              <a:spcAft>
                <a:spcPts val="1000"/>
              </a:spcAft>
            </a:pPr>
            <a:r>
              <a:rPr sz="2000">
                <a:solidFill>
                  <a:srgbClr val="F4F7FB"/>
                </a:solidFill>
                <a:latin typeface="Calibri"/>
              </a:rPr>
              <a:t>2.  Set 'Temperate flow multiplier (%)' to 500.</a:t>
            </a:r>
          </a:p>
          <a:p>
            <a:pPr algn="l">
              <a:spcAft>
                <a:spcPts val="1000"/>
              </a:spcAft>
            </a:pPr>
            <a:r>
              <a:rPr sz="2000">
                <a:solidFill>
                  <a:srgbClr val="F4F7FB"/>
                </a:solidFill>
                <a:latin typeface="Calibri"/>
              </a:rPr>
              <a:t>3.  Close settings. Point at the water sources — flow visibly jumps.</a:t>
            </a:r>
          </a:p>
          <a:p>
            <a:pPr algn="l">
              <a:spcAft>
                <a:spcPts val="1000"/>
              </a:spcAft>
            </a:pPr>
            <a:r>
              <a:rPr sz="2000">
                <a:solidFill>
                  <a:srgbClr val="F4F7FB"/>
                </a:solidFill>
                <a:latin typeface="Calibri"/>
              </a:rPr>
              <a:t>4.  Set back to 200 (default 2×) to keep things sane.</a:t>
            </a:r>
          </a:p>
          <a:p>
            <a:pPr algn="l">
              <a:spcAft>
                <a:spcPts val="1000"/>
              </a:spcAft>
            </a:pPr>
            <a:r>
              <a:rPr sz="2000">
                <a:solidFill>
                  <a:srgbClr val="F4F7FB"/>
                </a:solidFill>
                <a:latin typeface="Calibri"/>
              </a:rPr>
              <a:t>5.  Optional: speed-time to make the downstream effect obvious.</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flow   ·   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2286000"/>
          </a:xfrm>
          <a:prstGeom prst="rect">
            <a:avLst/>
          </a:prstGeom>
          <a:noFill/>
        </p:spPr>
        <p:txBody>
          <a:bodyPr wrap="square" anchor="ctr">
            <a:spAutoFit/>
          </a:bodyPr>
          <a:lstStyle/>
          <a:p>
            <a:pPr algn="ctr"/>
            <a:r>
              <a:rPr sz="4000" b="0">
                <a:solidFill>
                  <a:srgbClr val="F4F7FB"/>
                </a:solidFill>
                <a:latin typeface="Calibri Light"/>
              </a:rPr>
              <a:t>“Dad, what if there was a flood every now and then, like the badtides and droughts?”</a:t>
            </a:r>
          </a:p>
        </p:txBody>
      </p:sp>
      <p:sp>
        <p:nvSpPr>
          <p:cNvPr id="3" name="TextBox 2"/>
          <p:cNvSpPr txBox="1"/>
          <p:nvPr/>
        </p:nvSpPr>
        <p:spPr>
          <a:xfrm>
            <a:off x="548640" y="4297680"/>
            <a:ext cx="11094415" cy="731520"/>
          </a:xfrm>
          <a:prstGeom prst="rect">
            <a:avLst/>
          </a:prstGeom>
          <a:noFill/>
        </p:spPr>
        <p:txBody>
          <a:bodyPr wrap="square" anchor="ctr">
            <a:spAutoFit/>
          </a:bodyPr>
          <a:lstStyle/>
          <a:p>
            <a:pPr algn="ctr"/>
            <a:r>
              <a:rPr sz="2200" b="0">
                <a:solidFill>
                  <a:srgbClr val="AADCF0"/>
                </a:solidFill>
                <a:latin typeface="Calibri"/>
              </a:rPr>
              <a:t>— Jasper, feature request #3</a:t>
            </a:r>
          </a:p>
        </p:txBody>
      </p:sp>
      <p:sp>
        <p:nvSpPr>
          <p:cNvPr id="4" name="TextBox 3"/>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hazard   ·   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HazardousWeatherRandomizer — no seam to hook</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 Timberborn.HazardousWeatherSystem (vanilla, decompiled)</a:t>
            </a:r>
          </a:p>
          <a:p>
            <a:pPr algn="l"/>
            <a:r>
              <a:rPr sz="1600">
                <a:solidFill>
                  <a:srgbClr val="101824"/>
                </a:solidFill>
                <a:latin typeface="Consolas"/>
              </a:rPr>
              <a:t>public IHazardousWeather GetRandomWeatherForCycle(int cycle) {</a:t>
            </a:r>
          </a:p>
          <a:p>
            <a:pPr algn="l"/>
            <a:r>
              <a:rPr sz="1600">
                <a:solidFill>
                  <a:srgbClr val="101824"/>
                </a:solidFill>
                <a:latin typeface="Consolas"/>
              </a:rPr>
              <a:t>    if (ShouldBeBadtideWeather(cycle)) {</a:t>
            </a:r>
          </a:p>
          <a:p>
            <a:pPr algn="l"/>
            <a:r>
              <a:rPr sz="1600">
                <a:solidFill>
                  <a:srgbClr val="101824"/>
                </a:solidFill>
                <a:latin typeface="Consolas"/>
              </a:rPr>
              <a:t>        return _badtideWeather;</a:t>
            </a:r>
          </a:p>
          <a:p>
            <a:pPr algn="l"/>
            <a:r>
              <a:rPr sz="1600">
                <a:solidFill>
                  <a:srgbClr val="101824"/>
                </a:solidFill>
                <a:latin typeface="Consolas"/>
              </a:rPr>
              <a:t>    }</a:t>
            </a:r>
          </a:p>
          <a:p>
            <a:pPr algn="l"/>
            <a:r>
              <a:rPr sz="1600">
                <a:solidFill>
                  <a:srgbClr val="101824"/>
                </a:solidFill>
                <a:latin typeface="Consolas"/>
              </a:rPr>
              <a:t>    return _droughtWeather;</a:t>
            </a:r>
          </a:p>
          <a:p>
            <a:pPr algn="l"/>
            <a:r>
              <a:rPr sz="1600">
                <a:solidFill>
                  <a:srgbClr val="101824"/>
                </a:solidFill>
                <a:latin typeface="Consolas"/>
              </a:rPr>
              <a:t>}</a:t>
            </a:r>
          </a:p>
          <a:p>
            <a:pPr algn="l"/>
            <a:r>
              <a:rPr sz="1600">
                <a:solidFill>
                  <a:srgbClr val="101824"/>
                </a:solidFill>
                <a:latin typeface="Consolas"/>
              </a:rPr>
              <a:t> </a:t>
            </a:r>
          </a:p>
          <a:p>
            <a:pPr algn="l"/>
            <a:r>
              <a:rPr sz="1600">
                <a:solidFill>
                  <a:srgbClr val="101824"/>
                </a:solidFill>
                <a:latin typeface="Consolas"/>
              </a:rPr>
              <a:t>// That's it. No interface enumeration. No event hook.</a:t>
            </a:r>
          </a:p>
          <a:p>
            <a:pPr algn="l"/>
            <a:r>
              <a:rPr sz="1600">
                <a:solidFill>
                  <a:srgbClr val="101824"/>
                </a:solidFill>
                <a:latin typeface="Consolas"/>
              </a:rPr>
              <a:t>// Just an if/else with two hardcoded private fields.</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The thing we want to extend is the most closed shape in the whole game.</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hazard   ·   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Harmony — the runtime patcher</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Library that rewrites method IL at load time. Originally for RimWorld mods.</a:t>
            </a:r>
          </a:p>
          <a:p>
            <a:pPr algn="l">
              <a:spcAft>
                <a:spcPts val="800"/>
              </a:spcAft>
            </a:pPr>
            <a:r>
              <a:rPr sz="2200">
                <a:solidFill>
                  <a:srgbClr val="101824"/>
                </a:solidFill>
                <a:latin typeface="Calibri"/>
              </a:rPr>
              <a:t>•  You don't ship modified game DLLs. You ship patch INSTRUCTIONS.</a:t>
            </a:r>
          </a:p>
          <a:p>
            <a:pPr algn="l">
              <a:spcAft>
                <a:spcPts val="800"/>
              </a:spcAft>
            </a:pPr>
            <a:r>
              <a:rPr sz="2200">
                <a:solidFill>
                  <a:srgbClr val="101824"/>
                </a:solidFill>
                <a:latin typeface="Calibri"/>
              </a:rPr>
              <a:t>•  Three patch positions:</a:t>
            </a:r>
          </a:p>
          <a:p>
            <a:pPr algn="l" lvl="1">
              <a:spcAft>
                <a:spcPts val="800"/>
              </a:spcAft>
            </a:pPr>
            <a:r>
              <a:rPr sz="1800">
                <a:solidFill>
                  <a:srgbClr val="556070"/>
                </a:solidFill>
                <a:latin typeface="Calibri"/>
              </a:rPr>
              <a:t>    –  PREFIX — runs before the original. Can read args. `return false` SKIPS the original.</a:t>
            </a:r>
          </a:p>
          <a:p>
            <a:pPr algn="l" lvl="1">
              <a:spcAft>
                <a:spcPts val="800"/>
              </a:spcAft>
            </a:pPr>
            <a:r>
              <a:rPr sz="1800">
                <a:solidFill>
                  <a:srgbClr val="556070"/>
                </a:solidFill>
                <a:latin typeface="Calibri"/>
              </a:rPr>
              <a:t>    –  POSTFIX — runs after. Can read AND modify the original's return value via `ref __result`.</a:t>
            </a:r>
          </a:p>
          <a:p>
            <a:pPr algn="l" lvl="1">
              <a:spcAft>
                <a:spcPts val="800"/>
              </a:spcAft>
            </a:pPr>
            <a:r>
              <a:rPr sz="1800">
                <a:solidFill>
                  <a:srgbClr val="556070"/>
                </a:solidFill>
                <a:latin typeface="Calibri"/>
              </a:rPr>
              <a:t>    –  TRANSPILER — rewrites the original's IL itself. We didn't need this.</a:t>
            </a:r>
          </a:p>
          <a:p>
            <a:pPr algn="l">
              <a:spcAft>
                <a:spcPts val="800"/>
              </a:spcAft>
            </a:pPr>
            <a:r>
              <a:rPr sz="2200">
                <a:solidFill>
                  <a:srgbClr val="101824"/>
                </a:solidFill>
                <a:latin typeface="Calibri"/>
              </a:rPr>
              <a:t>•  Patches discovered by [HarmonyPatch] attribute + a single PatchAll() call at startup.</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hazard   ·   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hijack — a Harmony postfix in 10 lines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[HarmonyPatch(typeof(HazardousWeatherRandomizer),</a:t>
            </a:r>
          </a:p>
          <a:p>
            <a:pPr algn="l"/>
            <a:r>
              <a:rPr sz="1600">
                <a:solidFill>
                  <a:srgbClr val="101824"/>
                </a:solidFill>
                <a:latin typeface="Consolas"/>
              </a:rPr>
              <a:t>              nameof(HazardousWeatherRandomizer.GetRandomWeatherForCycle))]</a:t>
            </a:r>
          </a:p>
          <a:p>
            <a:pPr algn="l"/>
            <a:r>
              <a:rPr sz="1600">
                <a:solidFill>
                  <a:srgbClr val="101824"/>
                </a:solidFill>
                <a:latin typeface="Consolas"/>
              </a:rPr>
              <a:t>internal static class RandomizerPatch {</a:t>
            </a:r>
          </a:p>
          <a:p>
            <a:pPr algn="l"/>
            <a:r>
              <a:rPr sz="1600">
                <a:solidFill>
                  <a:srgbClr val="101824"/>
                </a:solidFill>
                <a:latin typeface="Consolas"/>
              </a:rPr>
              <a:t> </a:t>
            </a:r>
          </a:p>
          <a:p>
            <a:pPr algn="l"/>
            <a:r>
              <a:rPr sz="1600">
                <a:solidFill>
                  <a:srgbClr val="101824"/>
                </a:solidFill>
                <a:latin typeface="Consolas"/>
              </a:rPr>
              <a:t>    [HarmonyPostfix]</a:t>
            </a:r>
          </a:p>
          <a:p>
            <a:pPr algn="l"/>
            <a:r>
              <a:rPr sz="1600">
                <a:solidFill>
                  <a:srgbClr val="101824"/>
                </a:solidFill>
                <a:latin typeface="Consolas"/>
              </a:rPr>
              <a:t>    public static void Postfix(int cycle, ref IHazardousWeather __result) {</a:t>
            </a:r>
          </a:p>
          <a:p>
            <a:pPr algn="l"/>
            <a:r>
              <a:rPr sz="1600">
                <a:solidFill>
                  <a:srgbClr val="101824"/>
                </a:solidFill>
                <a:latin typeface="Consolas"/>
              </a:rPr>
              <a:t>        // … gates omitted: enable, grace cycles, weighted roll …</a:t>
            </a:r>
          </a:p>
          <a:p>
            <a:pPr algn="l"/>
            <a:r>
              <a:rPr sz="1600">
                <a:solidFill>
                  <a:srgbClr val="101824"/>
                </a:solidFill>
                <a:latin typeface="Consolas"/>
              </a:rPr>
              <a:t>        if (RollSaysFlood()) {</a:t>
            </a:r>
          </a:p>
          <a:p>
            <a:pPr algn="l"/>
            <a:r>
              <a:rPr sz="1600">
                <a:solidFill>
                  <a:srgbClr val="101824"/>
                </a:solidFill>
                <a:latin typeface="Consolas"/>
              </a:rPr>
              <a:t>            __result = FloodWeather.Instance;</a:t>
            </a:r>
          </a:p>
          <a:p>
            <a:pPr algn="l"/>
            <a:r>
              <a:rPr sz="1600">
                <a:solidFill>
                  <a:srgbClr val="101824"/>
                </a:solidFill>
                <a:latin typeface="Consolas"/>
              </a:rPr>
              <a:t>        } else if (RollSaysMixedTide()) {</a:t>
            </a:r>
          </a:p>
          <a:p>
            <a:pPr algn="l"/>
            <a:r>
              <a:rPr sz="1600">
                <a:solidFill>
                  <a:srgbClr val="101824"/>
                </a:solidFill>
                <a:latin typeface="Consolas"/>
              </a:rPr>
              <a:t>            __result = MixedTideWeather.Instance;</a:t>
            </a:r>
          </a:p>
          <a:p>
            <a:pPr algn="l"/>
            <a:r>
              <a:rPr sz="1600">
                <a:solidFill>
                  <a:srgbClr val="101824"/>
                </a:solidFill>
                <a:latin typeface="Consolas"/>
              </a:rPr>
              <a:t>        }</a:t>
            </a:r>
          </a:p>
          <a:p>
            <a:pPr algn="l"/>
            <a:r>
              <a:rPr sz="1600">
                <a:solidFill>
                  <a:srgbClr val="101824"/>
                </a:solidFill>
                <a:latin typeface="Consolas"/>
              </a:rPr>
              <a:t>    }</a:t>
            </a:r>
          </a:p>
          <a:p>
            <a:pPr algn="l"/>
            <a:r>
              <a:rPr sz="16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Vanilla picks drought / badtide. We OVERWRITE the result. Done.</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hazard   ·   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406E"/>
        </a:solidFill>
        <a:effectLst/>
      </p:bgPr>
    </p:bg>
    <p:spTree>
      <p:nvGrpSpPr>
        <p:cNvPr id="1" name=""/>
        <p:cNvGrpSpPr/>
        <p:nvPr/>
      </p:nvGrpSpPr>
      <p:grpSpPr/>
      <p:sp>
        <p:nvSpPr>
          <p:cNvPr id="2" name="TextBox 1"/>
          <p:cNvSpPr txBox="1"/>
          <p:nvPr/>
        </p:nvSpPr>
        <p:spPr>
          <a:xfrm>
            <a:off x="548640" y="457200"/>
            <a:ext cx="11094415" cy="914400"/>
          </a:xfrm>
          <a:prstGeom prst="rect">
            <a:avLst/>
          </a:prstGeom>
          <a:noFill/>
        </p:spPr>
        <p:txBody>
          <a:bodyPr wrap="square" anchor="ctr">
            <a:spAutoFit/>
          </a:bodyPr>
          <a:lstStyle/>
          <a:p>
            <a:pPr algn="l"/>
            <a:r>
              <a:rPr sz="1800" b="1">
                <a:solidFill>
                  <a:srgbClr val="AADCF0"/>
                </a:solidFill>
                <a:latin typeface="Calibri Light"/>
              </a:rPr>
              <a:t>LIVE DEMO</a:t>
            </a:r>
          </a:p>
        </p:txBody>
      </p:sp>
      <p:sp>
        <p:nvSpPr>
          <p:cNvPr id="3" name="TextBox 2"/>
          <p:cNvSpPr txBox="1"/>
          <p:nvPr/>
        </p:nvSpPr>
        <p:spPr>
          <a:xfrm>
            <a:off x="548640" y="1280160"/>
            <a:ext cx="11094415" cy="1097280"/>
          </a:xfrm>
          <a:prstGeom prst="rect">
            <a:avLst/>
          </a:prstGeom>
          <a:noFill/>
        </p:spPr>
        <p:txBody>
          <a:bodyPr wrap="square" anchor="ctr">
            <a:spAutoFit/>
          </a:bodyPr>
          <a:lstStyle/>
          <a:p>
            <a:pPr algn="l"/>
            <a:r>
              <a:rPr sz="4400" b="1">
                <a:solidFill>
                  <a:srgbClr val="F4F7FB"/>
                </a:solidFill>
                <a:latin typeface="Calibri Light"/>
              </a:rPr>
              <a:t>This is with a flood season</a:t>
            </a:r>
          </a:p>
        </p:txBody>
      </p:sp>
      <p:sp>
        <p:nvSpPr>
          <p:cNvPr id="4" name="TextBox 3"/>
          <p:cNvSpPr txBox="1"/>
          <p:nvPr/>
        </p:nvSpPr>
        <p:spPr>
          <a:xfrm>
            <a:off x="548640" y="2926080"/>
            <a:ext cx="11094415" cy="3200400"/>
          </a:xfrm>
          <a:prstGeom prst="rect">
            <a:avLst/>
          </a:prstGeom>
          <a:noFill/>
        </p:spPr>
        <p:txBody>
          <a:bodyPr wrap="square">
            <a:spAutoFit/>
          </a:bodyPr>
          <a:lstStyle/>
          <a:p>
            <a:pPr algn="l">
              <a:spcAft>
                <a:spcPts val="1000"/>
              </a:spcAft>
            </a:pPr>
            <a:r>
              <a:rPr sz="2000">
                <a:solidFill>
                  <a:srgbClr val="F4F7FB"/>
                </a:solidFill>
                <a:latin typeface="Calibri"/>
              </a:rPr>
              <a:t>1.  Open Mod Settings, enable Flood Season, probability 100%, grace 0.</a:t>
            </a:r>
          </a:p>
          <a:p>
            <a:pPr algn="l">
              <a:spcAft>
                <a:spcPts val="1000"/>
              </a:spcAft>
            </a:pPr>
            <a:r>
              <a:rPr sz="2000">
                <a:solidFill>
                  <a:srgbClr val="F4F7FB"/>
                </a:solidFill>
                <a:latin typeface="Calibri"/>
              </a:rPr>
              <a:t>2.  Start a NEW game — cycle weather is decided at cycle START (gotcha).</a:t>
            </a:r>
          </a:p>
          <a:p>
            <a:pPr algn="l">
              <a:spcAft>
                <a:spcPts val="1000"/>
              </a:spcAft>
            </a:pPr>
            <a:r>
              <a:rPr sz="2000">
                <a:solidFill>
                  <a:srgbClr val="F4F7FB"/>
                </a:solidFill>
                <a:latin typeface="Calibri"/>
              </a:rPr>
              <a:t>3.  Fast-forward to the first hazardous cycle.</a:t>
            </a:r>
          </a:p>
          <a:p>
            <a:pPr algn="l">
              <a:spcAft>
                <a:spcPts val="1000"/>
              </a:spcAft>
            </a:pPr>
            <a:r>
              <a:rPr sz="2000">
                <a:solidFill>
                  <a:srgbClr val="F4F7FB"/>
                </a:solidFill>
                <a:latin typeface="Calibri"/>
              </a:rPr>
              <a:t>4.  Point at the panel: 'A flood has begun!' instead of drought/badtide.</a:t>
            </a:r>
          </a:p>
          <a:p>
            <a:pPr algn="l">
              <a:spcAft>
                <a:spcPts val="1000"/>
              </a:spcAft>
            </a:pPr>
            <a:r>
              <a:rPr sz="2000">
                <a:solidFill>
                  <a:srgbClr val="F4F7FB"/>
                </a:solidFill>
                <a:latin typeface="Calibri"/>
              </a:rPr>
              <a:t>5.  Note that the icon + banner still look like drought (cascade fixes coming).</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#2: Flood Season — hazard   ·   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And then everything else breaks</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We introduced a NEW IHazardousWeather type. Vanilla code didn't expect this.</a:t>
            </a:r>
          </a:p>
          <a:p>
            <a:pPr algn="l">
              <a:spcAft>
                <a:spcPts val="800"/>
              </a:spcAft>
            </a:pPr>
            <a:r>
              <a:rPr sz="2200">
                <a:solidFill>
                  <a:srgbClr val="101824"/>
                </a:solidFill>
                <a:latin typeface="Calibri"/>
              </a:rPr>
              <a:t>•  Every place that does `is DroughtWeather else is BadtideWeather else throw` fires.</a:t>
            </a:r>
          </a:p>
          <a:p>
            <a:pPr algn="l">
              <a:spcAft>
                <a:spcPts val="800"/>
              </a:spcAft>
            </a:pPr>
            <a:r>
              <a:rPr sz="2200">
                <a:solidFill>
                  <a:srgbClr val="101824"/>
                </a:solidFill>
                <a:latin typeface="Calibri"/>
              </a:rPr>
              <a:t>•  Every place keyed off the weather's string Id misses the lookup (fog spec, history).</a:t>
            </a:r>
          </a:p>
          <a:p>
            <a:pPr algn="l">
              <a:spcAft>
                <a:spcPts val="800"/>
              </a:spcAft>
            </a:pPr>
            <a:r>
              <a:rPr sz="2200">
                <a:solidFill>
                  <a:srgbClr val="101824"/>
                </a:solidFill>
                <a:latin typeface="Calibri"/>
              </a:rPr>
              <a:t>•  Every UI element CSS-bound to drought/badtide classes shows the wrong art.</a:t>
            </a:r>
          </a:p>
          <a:p>
            <a:pPr algn="l">
              <a:spcAft>
                <a:spcPts val="800"/>
              </a:spcAft>
            </a:pPr>
            <a:r>
              <a:rPr sz="2200">
                <a:solidFill>
                  <a:srgbClr val="101824"/>
                </a:solidFill>
                <a:latin typeface="Calibri"/>
              </a:rPr>
              <a:t>•  Each is a separate patch. We discovered them by crashing.</a:t>
            </a:r>
          </a:p>
          <a:p>
            <a:pPr algn="l" lvl="1">
              <a:spcAft>
                <a:spcPts val="800"/>
              </a:spcAft>
            </a:pPr>
            <a:r>
              <a:rPr sz="1800">
                <a:solidFill>
                  <a:srgbClr val="556070"/>
                </a:solidFill>
                <a:latin typeface="Calibri"/>
              </a:rPr>
              <a:t>    –  Walking through the categories with one representative fix each.</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The cascade   ·   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first throw: HazardousWeatherUIHelper</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600">
                <a:solidFill>
                  <a:srgbClr val="101824"/>
                </a:solidFill>
                <a:latin typeface="Consolas"/>
              </a:rPr>
              <a:t>// Vanilla — Timberborn.HazardousWeatherSystemUI (decompiled)</a:t>
            </a:r>
          </a:p>
          <a:p>
            <a:pPr algn="l"/>
            <a:r>
              <a:rPr sz="1600">
                <a:solidFill>
                  <a:srgbClr val="101824"/>
                </a:solidFill>
                <a:latin typeface="Consolas"/>
              </a:rPr>
              <a:t>private void UpdateCurrentUISpecification() {</a:t>
            </a:r>
          </a:p>
          <a:p>
            <a:pPr algn="l"/>
            <a:r>
              <a:rPr sz="1600">
                <a:solidFill>
                  <a:srgbClr val="101824"/>
                </a:solidFill>
                <a:latin typeface="Consolas"/>
              </a:rPr>
              <a:t>    var current = _hazardousWeatherService.CurrentCycleHazardousWeather;</a:t>
            </a:r>
          </a:p>
          <a:p>
            <a:pPr algn="l"/>
            <a:r>
              <a:rPr sz="1600">
                <a:solidFill>
                  <a:srgbClr val="101824"/>
                </a:solidFill>
                <a:latin typeface="Consolas"/>
              </a:rPr>
              <a:t>    if (!(current is DroughtWeather)) {</a:t>
            </a:r>
          </a:p>
          <a:p>
            <a:pPr algn="l"/>
            <a:r>
              <a:rPr sz="1600">
                <a:solidFill>
                  <a:srgbClr val="101824"/>
                </a:solidFill>
                <a:latin typeface="Consolas"/>
              </a:rPr>
              <a:t>        if (!(current is BadtideWeather)) {</a:t>
            </a:r>
          </a:p>
          <a:p>
            <a:pPr algn="l"/>
            <a:r>
              <a:rPr sz="1600">
                <a:solidFill>
                  <a:srgbClr val="101824"/>
                </a:solidFill>
                <a:latin typeface="Consolas"/>
              </a:rPr>
              <a:t>            throw new InvalidOperationException(</a:t>
            </a:r>
          </a:p>
          <a:p>
            <a:pPr algn="l"/>
            <a:r>
              <a:rPr sz="1600">
                <a:solidFill>
                  <a:srgbClr val="101824"/>
                </a:solidFill>
                <a:latin typeface="Consolas"/>
              </a:rPr>
              <a:t>                "No UI for weather: " + current);</a:t>
            </a:r>
          </a:p>
          <a:p>
            <a:pPr algn="l"/>
            <a:r>
              <a:rPr sz="1600">
                <a:solidFill>
                  <a:srgbClr val="101824"/>
                </a:solidFill>
                <a:latin typeface="Consolas"/>
              </a:rPr>
              <a:t>        }</a:t>
            </a:r>
          </a:p>
          <a:p>
            <a:pPr algn="l"/>
            <a:r>
              <a:rPr sz="1600">
                <a:solidFill>
                  <a:srgbClr val="101824"/>
                </a:solidFill>
                <a:latin typeface="Consolas"/>
              </a:rPr>
              <a:t>        _currentUISpecification = _badtideWeatherUISpecification;</a:t>
            </a:r>
          </a:p>
          <a:p>
            <a:pPr algn="l"/>
            <a:r>
              <a:rPr sz="1600">
                <a:solidFill>
                  <a:srgbClr val="101824"/>
                </a:solidFill>
                <a:latin typeface="Consolas"/>
              </a:rPr>
              <a:t>    } else {</a:t>
            </a:r>
          </a:p>
          <a:p>
            <a:pPr algn="l"/>
            <a:r>
              <a:rPr sz="1600">
                <a:solidFill>
                  <a:srgbClr val="101824"/>
                </a:solidFill>
                <a:latin typeface="Consolas"/>
              </a:rPr>
              <a:t>        _currentUISpecification = _droughtWeatherUISpecification;</a:t>
            </a:r>
          </a:p>
          <a:p>
            <a:pPr algn="l"/>
            <a:r>
              <a:rPr sz="1600">
                <a:solidFill>
                  <a:srgbClr val="101824"/>
                </a:solidFill>
                <a:latin typeface="Consolas"/>
              </a:rPr>
              <a:t>    }</a:t>
            </a:r>
          </a:p>
          <a:p>
            <a:pPr algn="l"/>
            <a:r>
              <a:rPr sz="1600">
                <a:solidFill>
                  <a:srgbClr val="101824"/>
                </a:solidFill>
                <a:latin typeface="Consolas"/>
              </a:rPr>
              <a:t>}</a:t>
            </a:r>
          </a:p>
          <a:p>
            <a:pPr algn="l"/>
            <a:r>
              <a:rPr sz="1600">
                <a:solidFill>
                  <a:srgbClr val="101824"/>
                </a:solidFill>
                <a:latin typeface="Consolas"/>
              </a:rPr>
              <a:t>// Fix: Harmony PREFIX that substitutes the drought UI spec when our flood</a:t>
            </a:r>
          </a:p>
          <a:p>
            <a:pPr algn="l"/>
            <a:r>
              <a:rPr sz="1600">
                <a:solidFill>
                  <a:srgbClr val="101824"/>
                </a:solidFill>
                <a:latin typeface="Consolas"/>
              </a:rPr>
              <a:t>// is current, then returns false to skip the original method entirely.</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Three throws like this in vanilla. UI helper, sound player, fog spec dictionary.</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The cascade   ·   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Id-spoof trick — lie on purpose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400">
                <a:solidFill>
                  <a:srgbClr val="101824"/>
                </a:solidFill>
                <a:latin typeface="Consolas"/>
              </a:rPr>
              <a:t>internal class FloodWeather : IHazardousWeather, ILoadableSingleton {</a:t>
            </a:r>
          </a:p>
          <a:p>
            <a:pPr algn="l"/>
            <a:r>
              <a:rPr sz="1400">
                <a:solidFill>
                  <a:srgbClr val="101824"/>
                </a:solidFill>
                <a:latin typeface="Consolas"/>
              </a:rPr>
              <a:t> </a:t>
            </a:r>
          </a:p>
          <a:p>
            <a:pPr algn="l"/>
            <a:r>
              <a:rPr sz="1400">
                <a:solidFill>
                  <a:srgbClr val="101824"/>
                </a:solidFill>
                <a:latin typeface="Consolas"/>
              </a:rPr>
              <a:t>    public string Id =&gt; "DroughtWeather";  // ← deliberate</a:t>
            </a:r>
          </a:p>
          <a:p>
            <a:pPr algn="l"/>
            <a:r>
              <a:rPr sz="1400">
                <a:solidFill>
                  <a:srgbClr val="101824"/>
                </a:solidFill>
                <a:latin typeface="Consolas"/>
              </a:rPr>
              <a:t> </a:t>
            </a:r>
          </a:p>
          <a:p>
            <a:pPr algn="l"/>
            <a:r>
              <a:rPr sz="1400">
                <a:solidFill>
                  <a:srgbClr val="101824"/>
                </a:solidFill>
                <a:latin typeface="Consolas"/>
              </a:rPr>
              <a:t>    // Vanilla code does:</a:t>
            </a:r>
          </a:p>
          <a:p>
            <a:pPr algn="l"/>
            <a:r>
              <a:rPr sz="1400">
                <a:solidFill>
                  <a:srgbClr val="101824"/>
                </a:solidFill>
                <a:latin typeface="Consolas"/>
              </a:rPr>
              <a:t>    //   var fog = Sun.GetFogSettings(currentWeather.Id);</a:t>
            </a:r>
          </a:p>
          <a:p>
            <a:pPr algn="l"/>
            <a:r>
              <a:rPr sz="1400">
                <a:solidFill>
                  <a:srgbClr val="101824"/>
                </a:solidFill>
                <a:latin typeface="Consolas"/>
              </a:rPr>
              <a:t>    //   var count = HazardousWeatherHistory.GetCyclesCount(id);</a:t>
            </a:r>
          </a:p>
          <a:p>
            <a:pPr algn="l"/>
            <a:r>
              <a:rPr sz="1400">
                <a:solidFill>
                  <a:srgbClr val="101824"/>
                </a:solidFill>
                <a:latin typeface="Consolas"/>
              </a:rPr>
              <a:t>    // Both are string-keyed dictionary lookups. Blueprint data ships only</a:t>
            </a:r>
          </a:p>
          <a:p>
            <a:pPr algn="l"/>
            <a:r>
              <a:rPr sz="1400">
                <a:solidFill>
                  <a:srgbClr val="101824"/>
                </a:solidFill>
                <a:latin typeface="Consolas"/>
              </a:rPr>
              <a:t>    // for "DroughtWeather" and "BadtideWeather". A novel id would throw</a:t>
            </a:r>
          </a:p>
          <a:p>
            <a:pPr algn="l"/>
            <a:r>
              <a:rPr sz="1400">
                <a:solidFill>
                  <a:srgbClr val="101824"/>
                </a:solidFill>
                <a:latin typeface="Consolas"/>
              </a:rPr>
              <a:t>    // KeyNotFoundException.</a:t>
            </a:r>
          </a:p>
          <a:p>
            <a:pPr algn="l"/>
            <a:r>
              <a:rPr sz="1400">
                <a:solidFill>
                  <a:srgbClr val="101824"/>
                </a:solidFill>
                <a:latin typeface="Consolas"/>
              </a:rPr>
              <a:t>    //</a:t>
            </a:r>
          </a:p>
          <a:p>
            <a:pPr algn="l"/>
            <a:r>
              <a:rPr sz="1400">
                <a:solidFill>
                  <a:srgbClr val="101824"/>
                </a:solidFill>
                <a:latin typeface="Consolas"/>
              </a:rPr>
              <a:t>    // Returning "DroughtWeather" → the lookup hits the drought entry.</a:t>
            </a:r>
          </a:p>
          <a:p>
            <a:pPr algn="l"/>
            <a:r>
              <a:rPr sz="1400">
                <a:solidFill>
                  <a:srgbClr val="101824"/>
                </a:solidFill>
                <a:latin typeface="Consolas"/>
              </a:rPr>
              <a:t>    // Fog thinks we're a drought. History counts us as a drought.</a:t>
            </a:r>
          </a:p>
          <a:p>
            <a:pPr algn="l"/>
            <a:r>
              <a:rPr sz="1400">
                <a:solidFill>
                  <a:srgbClr val="101824"/>
                </a:solidFill>
                <a:latin typeface="Consolas"/>
              </a:rPr>
              <a:t>    //</a:t>
            </a:r>
          </a:p>
          <a:p>
            <a:pPr algn="l"/>
            <a:r>
              <a:rPr sz="1400">
                <a:solidFill>
                  <a:srgbClr val="101824"/>
                </a:solidFill>
                <a:latin typeface="Consolas"/>
              </a:rPr>
              <a:t>    // Type-based dispatch (`is FloodWeather`) STILL works — that's C# type</a:t>
            </a:r>
          </a:p>
          <a:p>
            <a:pPr algn="l"/>
            <a:r>
              <a:rPr sz="1400">
                <a:solidFill>
                  <a:srgbClr val="101824"/>
                </a:solidFill>
                <a:latin typeface="Consolas"/>
              </a:rPr>
              <a:t>    // identity, not the string. Our own modifier still distinguishes us.</a:t>
            </a:r>
          </a:p>
          <a:p>
            <a:pPr algn="l"/>
            <a:r>
              <a:rPr sz="1400">
                <a:solidFill>
                  <a:srgbClr val="101824"/>
                </a:solidFill>
                <a:latin typeface="Consolas"/>
              </a:rPr>
              <a:t>    // …</a:t>
            </a:r>
          </a:p>
          <a:p>
            <a:pPr algn="l"/>
            <a:r>
              <a:rPr sz="1400">
                <a:solidFill>
                  <a:srgbClr val="101824"/>
                </a:solidFill>
                <a:latin typeface="Consolas"/>
              </a:rPr>
              <a:t>}</a:t>
            </a:r>
          </a:p>
          <a:p>
            <a:pPr algn="l"/>
            <a:r>
              <a:rPr sz="1400">
                <a:solidFill>
                  <a:srgbClr val="101824"/>
                </a:solidFill>
                <a:latin typeface="Consolas"/>
              </a:rPr>
              <a:t>// Mixed Tide does the same trick but spoofs as "BadtideWeather".</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Spoof the id where vanilla uses strings. Keep the type where vanilla uses types.</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The cascade   ·   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UI: drought textures bleed through, we override inline</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Spoofing the UI spec stops vanilla throwing — but the player sees DROUGHT art during a FLOOD.</a:t>
            </a:r>
          </a:p>
          <a:p>
            <a:pPr algn="l">
              <a:spcAft>
                <a:spcPts val="800"/>
              </a:spcAft>
            </a:pPr>
            <a:r>
              <a:rPr sz="2200">
                <a:solidFill>
                  <a:srgbClr val="101824"/>
                </a:solidFill>
                <a:latin typeface="Calibri"/>
              </a:rPr>
              <a:t>•  Date panel icon: CSS class on root → swap inline style.backgroundImage.</a:t>
            </a:r>
          </a:p>
          <a:p>
            <a:pPr algn="l">
              <a:spcAft>
                <a:spcPts val="800"/>
              </a:spcAft>
            </a:pPr>
            <a:r>
              <a:rPr sz="2200">
                <a:solidFill>
                  <a:srgbClr val="101824"/>
                </a:solidFill>
                <a:latin typeface="Calibri"/>
              </a:rPr>
              <a:t>•  Notification banner: same. Find the Image element, override inline.</a:t>
            </a:r>
          </a:p>
          <a:p>
            <a:pPr algn="l">
              <a:spcAft>
                <a:spcPts val="800"/>
              </a:spcAft>
            </a:pPr>
            <a:r>
              <a:rPr sz="2200">
                <a:solidFill>
                  <a:srgbClr val="101824"/>
                </a:solidFill>
                <a:latin typeface="Calibri"/>
              </a:rPr>
              <a:t>•  Weather panel progress strip: it's a CUSTOM MESH, not a regular CSS background.</a:t>
            </a:r>
          </a:p>
          <a:p>
            <a:pPr algn="l" lvl="1">
              <a:spcAft>
                <a:spcPts val="800"/>
              </a:spcAft>
            </a:pPr>
            <a:r>
              <a:rPr sz="1800">
                <a:solidFill>
                  <a:srgbClr val="556070"/>
                </a:solidFill>
                <a:latin typeface="Calibri"/>
              </a:rPr>
              <a:t>    –  Sprite is loaded via Resources.Load from a CustomStyleProperty&lt;string&gt;.</a:t>
            </a:r>
          </a:p>
          <a:p>
            <a:pPr algn="l" lvl="1">
              <a:spcAft>
                <a:spcPts val="800"/>
              </a:spcAft>
            </a:pPr>
            <a:r>
              <a:rPr sz="1800">
                <a:solidFill>
                  <a:srgbClr val="556070"/>
                </a:solidFill>
                <a:latin typeface="Calibri"/>
              </a:rPr>
              <a:t>    –  UI Toolkit resolution is DEFERRED — our override gets undone after our postfix.</a:t>
            </a:r>
          </a:p>
          <a:p>
            <a:pPr algn="l" lvl="1">
              <a:spcAft>
                <a:spcPts val="800"/>
              </a:spcAft>
            </a:pPr>
            <a:r>
              <a:rPr sz="1800">
                <a:solidFill>
                  <a:srgbClr val="556070"/>
                </a:solidFill>
                <a:latin typeface="Calibri"/>
              </a:rPr>
              <a:t>    –  Fix: postfix the resolver event itself, so we write _image LAST.</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The cascade   ·   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Save / load: vanilla schema can't fit</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400">
                <a:solidFill>
                  <a:srgbClr val="101824"/>
                </a:solidFill>
                <a:latin typeface="Consolas"/>
              </a:rPr>
              <a:t>// Vanilla persists the active hazard as ONE BOOL:</a:t>
            </a:r>
          </a:p>
          <a:p>
            <a:pPr algn="l"/>
            <a:r>
              <a:rPr sz="1400">
                <a:solidFill>
                  <a:srgbClr val="101824"/>
                </a:solidFill>
                <a:latin typeface="Consolas"/>
              </a:rPr>
              <a:t>//   IsDrought: true  (Drought)</a:t>
            </a:r>
          </a:p>
          <a:p>
            <a:pPr algn="l"/>
            <a:r>
              <a:rPr sz="1400">
                <a:solidFill>
                  <a:srgbClr val="101824"/>
                </a:solidFill>
                <a:latin typeface="Consolas"/>
              </a:rPr>
              <a:t>//   IsDrought: false (Badtide)</a:t>
            </a:r>
          </a:p>
          <a:p>
            <a:pPr algn="l"/>
            <a:r>
              <a:rPr sz="1400">
                <a:solidFill>
                  <a:srgbClr val="101824"/>
                </a:solidFill>
                <a:latin typeface="Consolas"/>
              </a:rPr>
              <a:t>// No room for a third state. Save during a flood → loads back as badtide.</a:t>
            </a:r>
          </a:p>
          <a:p>
            <a:pPr algn="l"/>
            <a:r>
              <a:rPr sz="1400">
                <a:solidFill>
                  <a:srgbClr val="101824"/>
                </a:solidFill>
                <a:latin typeface="Consolas"/>
              </a:rPr>
              <a:t> </a:t>
            </a:r>
          </a:p>
          <a:p>
            <a:pPr algn="l"/>
            <a:r>
              <a:rPr sz="1400">
                <a:solidFill>
                  <a:srgbClr val="101824"/>
                </a:solidFill>
                <a:latin typeface="Consolas"/>
              </a:rPr>
              <a:t>internal class HazardousWeatherStatePersistence</a:t>
            </a:r>
          </a:p>
          <a:p>
            <a:pPr algn="l"/>
            <a:r>
              <a:rPr sz="1400">
                <a:solidFill>
                  <a:srgbClr val="101824"/>
                </a:solidFill>
                <a:latin typeface="Consolas"/>
              </a:rPr>
              <a:t>    : ILoadableSingleton, ISaveableSingleton, IPostLoadableSingleton {</a:t>
            </a:r>
          </a:p>
          <a:p>
            <a:pPr algn="l"/>
            <a:r>
              <a:rPr sz="1400">
                <a:solidFill>
                  <a:srgbClr val="101824"/>
                </a:solidFill>
                <a:latin typeface="Consolas"/>
              </a:rPr>
              <a:t> </a:t>
            </a:r>
          </a:p>
          <a:p>
            <a:pPr algn="l"/>
            <a:r>
              <a:rPr sz="1400">
                <a:solidFill>
                  <a:srgbClr val="101824"/>
                </a:solidFill>
                <a:latin typeface="Consolas"/>
              </a:rPr>
              <a:t>    private static readonly SingletonKey StateKey =</a:t>
            </a:r>
          </a:p>
          <a:p>
            <a:pPr algn="l"/>
            <a:r>
              <a:rPr sz="1400">
                <a:solidFill>
                  <a:srgbClr val="101824"/>
                </a:solidFill>
                <a:latin typeface="Consolas"/>
              </a:rPr>
              <a:t>        new SingletonKey("Spycho.FloodSeason.HazardousWeatherState");</a:t>
            </a:r>
          </a:p>
          <a:p>
            <a:pPr algn="l"/>
            <a:r>
              <a:rPr sz="1400">
                <a:solidFill>
                  <a:srgbClr val="101824"/>
                </a:solidFill>
                <a:latin typeface="Consolas"/>
              </a:rPr>
              <a:t>    private static readonly PropertyKey&lt;bool&gt; IsFloodActiveKey      = …;</a:t>
            </a:r>
          </a:p>
          <a:p>
            <a:pPr algn="l"/>
            <a:r>
              <a:rPr sz="1400">
                <a:solidFill>
                  <a:srgbClr val="101824"/>
                </a:solidFill>
                <a:latin typeface="Consolas"/>
              </a:rPr>
              <a:t>    private static readonly PropertyKey&lt;bool&gt; IsMixedTideActiveKey  = …;</a:t>
            </a:r>
          </a:p>
          <a:p>
            <a:pPr algn="l"/>
            <a:r>
              <a:rPr sz="1400">
                <a:solidFill>
                  <a:srgbClr val="101824"/>
                </a:solidFill>
                <a:latin typeface="Consolas"/>
              </a:rPr>
              <a:t> </a:t>
            </a:r>
          </a:p>
          <a:p>
            <a:pPr algn="l"/>
            <a:r>
              <a:rPr sz="1400">
                <a:solidFill>
                  <a:srgbClr val="101824"/>
                </a:solidFill>
                <a:latin typeface="Consolas"/>
              </a:rPr>
              <a:t>    public void Save(ISingletonSaver s) {</a:t>
            </a:r>
          </a:p>
          <a:p>
            <a:pPr algn="l"/>
            <a:r>
              <a:rPr sz="1400">
                <a:solidFill>
                  <a:srgbClr val="101824"/>
                </a:solidFill>
                <a:latin typeface="Consolas"/>
              </a:rPr>
              <a:t>        var saver = s.GetSingleton(StateKey);</a:t>
            </a:r>
          </a:p>
          <a:p>
            <a:pPr algn="l"/>
            <a:r>
              <a:rPr sz="1400">
                <a:solidFill>
                  <a:srgbClr val="101824"/>
                </a:solidFill>
                <a:latin typeface="Consolas"/>
              </a:rPr>
              <a:t>        saver.Set(IsFloodActiveKey,     current is FloodWeather);</a:t>
            </a:r>
          </a:p>
          <a:p>
            <a:pPr algn="l"/>
            <a:r>
              <a:rPr sz="1400">
                <a:solidFill>
                  <a:srgbClr val="101824"/>
                </a:solidFill>
                <a:latin typeface="Consolas"/>
              </a:rPr>
              <a:t>        saver.Set(IsMixedTideActiveKey, current is MixedTideWeather);</a:t>
            </a:r>
          </a:p>
          <a:p>
            <a:pPr algn="l"/>
            <a:r>
              <a:rPr sz="1400">
                <a:solidFill>
                  <a:srgbClr val="101824"/>
                </a:solidFill>
                <a:latin typeface="Consolas"/>
              </a:rPr>
              <a:t>    }</a:t>
            </a:r>
          </a:p>
          <a:p>
            <a:pPr algn="l"/>
            <a:r>
              <a:rPr sz="1400">
                <a:solidFill>
                  <a:srgbClr val="101824"/>
                </a:solidFill>
                <a:latin typeface="Consolas"/>
              </a:rPr>
              <a:t>    public void PostLoad() {</a:t>
            </a:r>
          </a:p>
          <a:p>
            <a:pPr algn="l"/>
            <a:r>
              <a:rPr sz="1400">
                <a:solidFill>
                  <a:srgbClr val="101824"/>
                </a:solidFill>
                <a:latin typeface="Consolas"/>
              </a:rPr>
              <a:t>        // Read bools → force-restore the right weather via AccessTools.PropertySetter</a:t>
            </a:r>
          </a:p>
          <a:p>
            <a:pPr algn="l"/>
            <a:r>
              <a:rPr sz="1400">
                <a:solidFill>
                  <a:srgbClr val="101824"/>
                </a:solidFill>
                <a:latin typeface="Consolas"/>
              </a:rPr>
              <a:t>        // → re-fire HazardousWeatherSelectedEvent (UI refresh)</a:t>
            </a:r>
          </a:p>
          <a:p>
            <a:pPr algn="l"/>
            <a:r>
              <a:rPr sz="1400">
                <a:solidFill>
                  <a:srgbClr val="101824"/>
                </a:solidFill>
                <a:latin typeface="Consolas"/>
              </a:rPr>
              <a:t>        // → post fake HazardousWeatherEndedEvent(badtide) to undo entity init.</a:t>
            </a:r>
          </a:p>
          <a:p>
            <a:pPr algn="l"/>
            <a:r>
              <a:rPr sz="1400">
                <a:solidFill>
                  <a:srgbClr val="101824"/>
                </a:solidFill>
                <a:latin typeface="Consolas"/>
              </a:rPr>
              <a:t>    }</a:t>
            </a:r>
          </a:p>
          <a:p>
            <a:pPr algn="l"/>
            <a:r>
              <a:rPr sz="14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Side-car schema, AccessTools setter override, synthetic event for entity cleanup.</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Save / load   ·   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fake-event knock-on</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Posting HazardousWeatherEndedEvent(BadtideWeather) cleans up contamination ✓</a:t>
            </a:r>
          </a:p>
          <a:p>
            <a:pPr algn="l">
              <a:spcAft>
                <a:spcPts val="800"/>
              </a:spcAft>
            </a:pPr>
            <a:r>
              <a:rPr sz="2200">
                <a:solidFill>
                  <a:srgbClr val="101824"/>
                </a:solidFill>
                <a:latin typeface="Calibri"/>
              </a:rPr>
              <a:t>•  It ALSO reaches GameMusicPlayer.OnHazardousWeatherEnded ✗</a:t>
            </a:r>
          </a:p>
          <a:p>
            <a:pPr algn="l" lvl="1">
              <a:spcAft>
                <a:spcPts val="800"/>
              </a:spcAft>
            </a:pPr>
            <a:r>
              <a:rPr sz="1800">
                <a:solidFill>
                  <a:srgbClr val="556070"/>
                </a:solidFill>
                <a:latin typeface="Calibri"/>
              </a:rPr>
              <a:t>    –  Music player thinks badtide just ended → stops drought track, starts standard.</a:t>
            </a:r>
          </a:p>
          <a:p>
            <a:pPr algn="l" lvl="1">
              <a:spcAft>
                <a:spcPts val="800"/>
              </a:spcAft>
            </a:pPr>
            <a:r>
              <a:rPr sz="1800">
                <a:solidFill>
                  <a:srgbClr val="556070"/>
                </a:solidFill>
                <a:latin typeface="Calibri"/>
              </a:rPr>
              <a:t>    –  But Load() already started drought music. Standard plays ON TOP of drought.</a:t>
            </a:r>
          </a:p>
          <a:p>
            <a:pPr algn="l">
              <a:spcAft>
                <a:spcPts val="800"/>
              </a:spcAft>
            </a:pPr>
            <a:r>
              <a:rPr sz="2200">
                <a:solidFill>
                  <a:srgbClr val="101824"/>
                </a:solidFill>
                <a:latin typeface="Calibri"/>
              </a:rPr>
              <a:t>•  Fix: Harmony PREFIX on GameMusicPlayer.OnHazardousWeatherEnded.</a:t>
            </a:r>
          </a:p>
          <a:p>
            <a:pPr algn="l" lvl="1">
              <a:spcAft>
                <a:spcPts val="800"/>
              </a:spcAft>
            </a:pPr>
            <a:r>
              <a:rPr sz="1800">
                <a:solidFill>
                  <a:srgbClr val="556070"/>
                </a:solidFill>
                <a:latin typeface="Calibri"/>
              </a:rPr>
              <a:t>    –  If ended-weather is badtide AND our custom hazard is current → skip handler.</a:t>
            </a:r>
          </a:p>
          <a:p>
            <a:pPr algn="l" lvl="1">
              <a:spcAft>
                <a:spcPts val="800"/>
              </a:spcAft>
            </a:pPr>
            <a:r>
              <a:rPr sz="1800">
                <a:solidFill>
                  <a:srgbClr val="556070"/>
                </a:solidFill>
                <a:latin typeface="Calibri"/>
              </a:rPr>
              <a:t>    –  That combination is unreachable in vanilla. Only our synthetic post produces it.</a:t>
            </a:r>
          </a:p>
          <a:p>
            <a:pPr algn="l">
              <a:spcAft>
                <a:spcPts val="800"/>
              </a:spcAft>
            </a:pPr>
            <a:r>
              <a:rPr sz="2200">
                <a:solidFill>
                  <a:srgbClr val="101824"/>
                </a:solidFill>
                <a:latin typeface="Calibri"/>
              </a:rPr>
              <a:t>•  Lesson: synthetic events leak across every subscriber on the bus. No private channel.</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Save / load   ·   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2286000"/>
          </a:xfrm>
          <a:prstGeom prst="rect">
            <a:avLst/>
          </a:prstGeom>
          <a:noFill/>
        </p:spPr>
        <p:txBody>
          <a:bodyPr wrap="square" anchor="ctr">
            <a:spAutoFit/>
          </a:bodyPr>
          <a:lstStyle/>
          <a:p>
            <a:pPr algn="ctr"/>
            <a:r>
              <a:rPr sz="4000" b="0">
                <a:solidFill>
                  <a:srgbClr val="F4F7FB"/>
                </a:solidFill>
                <a:latin typeface="Calibri Light"/>
              </a:rPr>
              <a:t>“Dad, let's make a season with bad and good water.”</a:t>
            </a:r>
          </a:p>
        </p:txBody>
      </p:sp>
      <p:sp>
        <p:nvSpPr>
          <p:cNvPr id="3" name="TextBox 2"/>
          <p:cNvSpPr txBox="1"/>
          <p:nvPr/>
        </p:nvSpPr>
        <p:spPr>
          <a:xfrm>
            <a:off x="548640" y="4297680"/>
            <a:ext cx="11094415" cy="731520"/>
          </a:xfrm>
          <a:prstGeom prst="rect">
            <a:avLst/>
          </a:prstGeom>
          <a:noFill/>
        </p:spPr>
        <p:txBody>
          <a:bodyPr wrap="square" anchor="ctr">
            <a:spAutoFit/>
          </a:bodyPr>
          <a:lstStyle/>
          <a:p>
            <a:pPr algn="ctr"/>
            <a:r>
              <a:rPr sz="2200" b="0">
                <a:solidFill>
                  <a:srgbClr val="AADCF0"/>
                </a:solidFill>
                <a:latin typeface="Calibri"/>
              </a:rPr>
              <a:t>— Jasper, feature request #4</a:t>
            </a:r>
          </a:p>
        </p:txBody>
      </p:sp>
      <p:sp>
        <p:nvSpPr>
          <p:cNvPr id="4" name="TextBox 3"/>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#3: Mixed Tide   ·   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The Mixed Tide seam — contamination IS the mix ratio</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48640" y="1280160"/>
            <a:ext cx="11094415" cy="4754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37160" bIns="137160"/>
          <a:lstStyle/>
          <a:p>
            <a:pPr algn="l"/>
            <a:r>
              <a:rPr sz="1400">
                <a:solidFill>
                  <a:srgbClr val="101824"/>
                </a:solidFill>
                <a:latin typeface="Consolas"/>
              </a:rPr>
              <a:t>// Found by decompiling Timberborn.WaterSystem and reading</a:t>
            </a:r>
          </a:p>
          <a:p>
            <a:pPr algn="l"/>
            <a:r>
              <a:rPr sz="1400">
                <a:solidFill>
                  <a:srgbClr val="101824"/>
                </a:solidFill>
                <a:latin typeface="Consolas"/>
              </a:rPr>
              <a:t>// SimulateContamination:</a:t>
            </a:r>
          </a:p>
          <a:p>
            <a:pPr algn="l"/>
            <a:r>
              <a:rPr sz="1400">
                <a:solidFill>
                  <a:srgbClr val="101824"/>
                </a:solidFill>
                <a:latin typeface="Consolas"/>
              </a:rPr>
              <a:t>//</a:t>
            </a:r>
          </a:p>
          <a:p>
            <a:pPr algn="l"/>
            <a:r>
              <a:rPr sz="1400">
                <a:solidFill>
                  <a:srgbClr val="101824"/>
                </a:solidFill>
                <a:latin typeface="Consolas"/>
              </a:rPr>
              <a:t>//   float num3 = (column.Contamination * (num2 + waterDisposed)</a:t>
            </a:r>
          </a:p>
          <a:p>
            <a:pPr algn="l"/>
            <a:r>
              <a:rPr sz="1400">
                <a:solidFill>
                  <a:srgbClr val="101824"/>
                </a:solidFill>
                <a:latin typeface="Consolas"/>
              </a:rPr>
              <a:t>//                 + contaminationChange) / num;</a:t>
            </a:r>
          </a:p>
          <a:p>
            <a:pPr algn="l"/>
            <a:r>
              <a:rPr sz="1400">
                <a:solidFill>
                  <a:srgbClr val="101824"/>
                </a:solidFill>
                <a:latin typeface="Consolas"/>
              </a:rPr>
              <a:t>//   _contaminationsBuffer[index3D] =</a:t>
            </a:r>
          </a:p>
          <a:p>
            <a:pPr algn="l"/>
            <a:r>
              <a:rPr sz="1400">
                <a:solidFill>
                  <a:srgbClr val="101824"/>
                </a:solidFill>
                <a:latin typeface="Consolas"/>
              </a:rPr>
              <a:t>//       (num3 &gt; _maxWaterContamination) ? _maxWaterContamination : num3;</a:t>
            </a:r>
          </a:p>
          <a:p>
            <a:pPr algn="l"/>
            <a:r>
              <a:rPr sz="1400">
                <a:solidFill>
                  <a:srgbClr val="101824"/>
                </a:solidFill>
                <a:latin typeface="Consolas"/>
              </a:rPr>
              <a:t>//</a:t>
            </a:r>
          </a:p>
          <a:p>
            <a:pPr algn="l"/>
            <a:r>
              <a:rPr sz="1400">
                <a:solidFill>
                  <a:srgbClr val="101824"/>
                </a:solidFill>
                <a:latin typeface="Consolas"/>
              </a:rPr>
              <a:t>// Translation: WaterSource.Contamination IS the bad-water fraction</a:t>
            </a:r>
          </a:p>
          <a:p>
            <a:pPr algn="l"/>
            <a:r>
              <a:rPr sz="1400">
                <a:solidFill>
                  <a:srgbClr val="101824"/>
                </a:solidFill>
                <a:latin typeface="Consolas"/>
              </a:rPr>
              <a:t>// emitted at the source. It diffuses into the water-column simulation</a:t>
            </a:r>
          </a:p>
          <a:p>
            <a:pPr algn="l"/>
            <a:r>
              <a:rPr sz="1400">
                <a:solidFill>
                  <a:srgbClr val="101824"/>
                </a:solidFill>
                <a:latin typeface="Consolas"/>
              </a:rPr>
              <a:t>// as a real mix — not a binary 'is bad / is good' threshold.</a:t>
            </a:r>
          </a:p>
          <a:p>
            <a:pPr algn="l"/>
            <a:r>
              <a:rPr sz="1400">
                <a:solidFill>
                  <a:srgbClr val="101824"/>
                </a:solidFill>
                <a:latin typeface="Consolas"/>
              </a:rPr>
              <a:t>//</a:t>
            </a:r>
          </a:p>
          <a:p>
            <a:pPr algn="l"/>
            <a:r>
              <a:rPr sz="1400">
                <a:solidFill>
                  <a:srgbClr val="101824"/>
                </a:solidFill>
                <a:latin typeface="Consolas"/>
              </a:rPr>
              <a:t>// → setting it to 0.3 yields 30% bad / 70% clean. Mechanic is FREE.</a:t>
            </a:r>
          </a:p>
          <a:p>
            <a:pPr algn="l"/>
            <a:r>
              <a:rPr sz="1400">
                <a:solidFill>
                  <a:srgbClr val="101824"/>
                </a:solidFill>
                <a:latin typeface="Consolas"/>
              </a:rPr>
              <a:t> </a:t>
            </a:r>
          </a:p>
          <a:p>
            <a:pPr algn="l"/>
            <a:r>
              <a:rPr sz="1400">
                <a:solidFill>
                  <a:srgbClr val="101824"/>
                </a:solidFill>
                <a:latin typeface="Consolas"/>
              </a:rPr>
              <a:t>internal class MixedTideContaminationController : TickableComponent, … {</a:t>
            </a:r>
          </a:p>
          <a:p>
            <a:pPr algn="l"/>
            <a:r>
              <a:rPr sz="1400">
                <a:solidFill>
                  <a:srgbClr val="101824"/>
                </a:solidFill>
                <a:latin typeface="Consolas"/>
              </a:rPr>
              <a:t>    public override void Tick() {</a:t>
            </a:r>
          </a:p>
          <a:p>
            <a:pPr algn="l"/>
            <a:r>
              <a:rPr sz="1400">
                <a:solidFill>
                  <a:srgbClr val="101824"/>
                </a:solidFill>
                <a:latin typeface="Consolas"/>
              </a:rPr>
              <a:t>        _waterSourceContamination.SetContamination(_settings.MixedTideContamination);</a:t>
            </a:r>
          </a:p>
          <a:p>
            <a:pPr algn="l"/>
            <a:r>
              <a:rPr sz="1400">
                <a:solidFill>
                  <a:srgbClr val="101824"/>
                </a:solidFill>
                <a:latin typeface="Consolas"/>
              </a:rPr>
              <a:t>    }</a:t>
            </a:r>
          </a:p>
          <a:p>
            <a:pPr algn="l"/>
            <a:r>
              <a:rPr sz="1400">
                <a:solidFill>
                  <a:srgbClr val="101824"/>
                </a:solidFill>
                <a:latin typeface="Consolas"/>
              </a:rPr>
              <a:t>}</a:t>
            </a:r>
          </a:p>
        </p:txBody>
      </p:sp>
      <p:sp>
        <p:nvSpPr>
          <p:cNvPr id="5" name="TextBox 4"/>
          <p:cNvSpPr txBox="1"/>
          <p:nvPr/>
        </p:nvSpPr>
        <p:spPr>
          <a:xfrm>
            <a:off x="548640" y="6080760"/>
            <a:ext cx="11094415" cy="365760"/>
          </a:xfrm>
          <a:prstGeom prst="rect">
            <a:avLst/>
          </a:prstGeom>
          <a:noFill/>
        </p:spPr>
        <p:txBody>
          <a:bodyPr wrap="square" anchor="ctr">
            <a:spAutoFit/>
          </a:bodyPr>
          <a:lstStyle/>
          <a:p>
            <a:pPr algn="l"/>
            <a:r>
              <a:rPr sz="1400" b="0">
                <a:solidFill>
                  <a:srgbClr val="556070"/>
                </a:solidFill>
                <a:latin typeface="Calibri"/>
              </a:rPr>
              <a:t>Read the simulation code, found the variable, set it to the user's chosen value.</a:t>
            </a:r>
          </a:p>
        </p:txBody>
      </p:sp>
      <p:sp>
        <p:nvSpPr>
          <p:cNvPr id="6" name="TextBox 5"/>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#3: Mixed Tide   ·   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406E"/>
        </a:solidFill>
        <a:effectLst/>
      </p:bgPr>
    </p:bg>
    <p:spTree>
      <p:nvGrpSpPr>
        <p:cNvPr id="1" name=""/>
        <p:cNvGrpSpPr/>
        <p:nvPr/>
      </p:nvGrpSpPr>
      <p:grpSpPr/>
      <p:sp>
        <p:nvSpPr>
          <p:cNvPr id="2" name="TextBox 1"/>
          <p:cNvSpPr txBox="1"/>
          <p:nvPr/>
        </p:nvSpPr>
        <p:spPr>
          <a:xfrm>
            <a:off x="548640" y="457200"/>
            <a:ext cx="11094415" cy="914400"/>
          </a:xfrm>
          <a:prstGeom prst="rect">
            <a:avLst/>
          </a:prstGeom>
          <a:noFill/>
        </p:spPr>
        <p:txBody>
          <a:bodyPr wrap="square" anchor="ctr">
            <a:spAutoFit/>
          </a:bodyPr>
          <a:lstStyle/>
          <a:p>
            <a:pPr algn="l"/>
            <a:r>
              <a:rPr sz="1800" b="1">
                <a:solidFill>
                  <a:srgbClr val="AADCF0"/>
                </a:solidFill>
                <a:latin typeface="Calibri Light"/>
              </a:rPr>
              <a:t>LIVE DEMO</a:t>
            </a:r>
          </a:p>
        </p:txBody>
      </p:sp>
      <p:sp>
        <p:nvSpPr>
          <p:cNvPr id="3" name="TextBox 2"/>
          <p:cNvSpPr txBox="1"/>
          <p:nvPr/>
        </p:nvSpPr>
        <p:spPr>
          <a:xfrm>
            <a:off x="548640" y="1280160"/>
            <a:ext cx="11094415" cy="1097280"/>
          </a:xfrm>
          <a:prstGeom prst="rect">
            <a:avLst/>
          </a:prstGeom>
          <a:noFill/>
        </p:spPr>
        <p:txBody>
          <a:bodyPr wrap="square" anchor="ctr">
            <a:spAutoFit/>
          </a:bodyPr>
          <a:lstStyle/>
          <a:p>
            <a:pPr algn="l"/>
            <a:r>
              <a:rPr sz="4400" b="1">
                <a:solidFill>
                  <a:srgbClr val="F4F7FB"/>
                </a:solidFill>
                <a:latin typeface="Calibri Light"/>
              </a:rPr>
              <a:t>This is with a mixed tide season</a:t>
            </a:r>
          </a:p>
        </p:txBody>
      </p:sp>
      <p:sp>
        <p:nvSpPr>
          <p:cNvPr id="4" name="TextBox 3"/>
          <p:cNvSpPr txBox="1"/>
          <p:nvPr/>
        </p:nvSpPr>
        <p:spPr>
          <a:xfrm>
            <a:off x="548640" y="2926080"/>
            <a:ext cx="11094415" cy="3200400"/>
          </a:xfrm>
          <a:prstGeom prst="rect">
            <a:avLst/>
          </a:prstGeom>
          <a:noFill/>
        </p:spPr>
        <p:txBody>
          <a:bodyPr wrap="square">
            <a:spAutoFit/>
          </a:bodyPr>
          <a:lstStyle/>
          <a:p>
            <a:pPr algn="l">
              <a:spcAft>
                <a:spcPts val="1000"/>
              </a:spcAft>
            </a:pPr>
            <a:r>
              <a:rPr sz="2000">
                <a:solidFill>
                  <a:srgbClr val="F4F7FB"/>
                </a:solidFill>
                <a:latin typeface="Calibri"/>
              </a:rPr>
              <a:t>1.  Open Mod Settings — enable Mixed Tide, probability 100%, contamination 30%.</a:t>
            </a:r>
          </a:p>
          <a:p>
            <a:pPr algn="l">
              <a:spcAft>
                <a:spcPts val="1000"/>
              </a:spcAft>
            </a:pPr>
            <a:r>
              <a:rPr sz="2000">
                <a:solidFill>
                  <a:srgbClr val="F4F7FB"/>
                </a:solidFill>
                <a:latin typeface="Calibri"/>
              </a:rPr>
              <a:t>2.  Start a NEW game, fast-forward to the first hazardous cycle.</a:t>
            </a:r>
          </a:p>
          <a:p>
            <a:pPr algn="l">
              <a:spcAft>
                <a:spcPts val="1000"/>
              </a:spcAft>
            </a:pPr>
            <a:r>
              <a:rPr sz="2000">
                <a:solidFill>
                  <a:srgbClr val="F4F7FB"/>
                </a:solidFill>
                <a:latin typeface="Calibri"/>
              </a:rPr>
              <a:t>3.  Point at the date panel — custom 'Mixed Tide' icon + label.</a:t>
            </a:r>
          </a:p>
          <a:p>
            <a:pPr algn="l">
              <a:spcAft>
                <a:spcPts val="1000"/>
              </a:spcAft>
            </a:pPr>
            <a:r>
              <a:rPr sz="2000">
                <a:solidFill>
                  <a:srgbClr val="F4F7FB"/>
                </a:solidFill>
                <a:latin typeface="Calibri"/>
              </a:rPr>
              <a:t>4.  Walk the camera to a water source — partly-bad water emitting + diffusing downstream.</a:t>
            </a:r>
          </a:p>
          <a:p>
            <a:pPr algn="l">
              <a:spcAft>
                <a:spcPts val="1000"/>
              </a:spcAft>
            </a:pPr>
            <a:r>
              <a:rPr sz="2000">
                <a:solidFill>
                  <a:srgbClr val="F4F7FB"/>
                </a:solidFill>
                <a:latin typeface="Calibri"/>
              </a:rPr>
              <a:t>5.  Optional: contrast with a real Badtide cycle (set Mixed Tide off, restart) so the 30%/70% mix vs full bad is visible.</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#3: Mixed Tide   ·   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Gotchas — nine landmines, documented</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1. bin/obj outside the mod folder (absolute path, not relative)</a:t>
            </a:r>
          </a:p>
          <a:p>
            <a:pPr algn="l">
              <a:spcAft>
                <a:spcPts val="800"/>
              </a:spcAft>
            </a:pPr>
            <a:r>
              <a:rPr sz="2200">
                <a:solidFill>
                  <a:srgbClr val="101824"/>
                </a:solidFill>
                <a:latin typeface="Calibri"/>
              </a:rPr>
              <a:t>•  2. Harmony field-injection needs FOUR underscores for vanilla underscored fields</a:t>
            </a:r>
          </a:p>
          <a:p>
            <a:pPr algn="l">
              <a:spcAft>
                <a:spcPts val="800"/>
              </a:spcAft>
            </a:pPr>
            <a:r>
              <a:rPr sz="2200">
                <a:solidFill>
                  <a:srgbClr val="101824"/>
                </a:solidFill>
                <a:latin typeface="Calibri"/>
              </a:rPr>
              <a:t>•  3. Bindito AsSingleton() is lazy without a tagged interface (ILoadableSingleton)</a:t>
            </a:r>
          </a:p>
          <a:p>
            <a:pPr algn="l">
              <a:spcAft>
                <a:spcPts val="800"/>
              </a:spcAft>
            </a:pPr>
            <a:r>
              <a:rPr sz="2200">
                <a:solidFill>
                  <a:srgbClr val="101824"/>
                </a:solidFill>
                <a:latin typeface="Calibri"/>
              </a:rPr>
              <a:t>•  4. Vanilla type-checks throw on unknown IHazardousWeather (UI helper, sound, fog)</a:t>
            </a:r>
          </a:p>
          <a:p>
            <a:pPr algn="l">
              <a:spcAft>
                <a:spcPts val="800"/>
              </a:spcAft>
            </a:pPr>
            <a:r>
              <a:rPr sz="2200">
                <a:solidFill>
                  <a:srgbClr val="101824"/>
                </a:solidFill>
                <a:latin typeface="Calibri"/>
              </a:rPr>
              <a:t>•  5. Id-keyed lookups are spoofed via FloodWeather.Id = "DroughtWeather"</a:t>
            </a:r>
          </a:p>
          <a:p>
            <a:pPr algn="l">
              <a:spcAft>
                <a:spcPts val="800"/>
              </a:spcAft>
            </a:pPr>
            <a:r>
              <a:rPr sz="2200">
                <a:solidFill>
                  <a:srgbClr val="101824"/>
                </a:solidFill>
                <a:latin typeface="Calibri"/>
              </a:rPr>
              <a:t>•  6. Cycle weather is decided at cycle START — settings changes never retro-apply</a:t>
            </a:r>
          </a:p>
          <a:p>
            <a:pPr algn="l">
              <a:spcAft>
                <a:spcPts val="800"/>
              </a:spcAft>
            </a:pPr>
            <a:r>
              <a:rPr sz="2200">
                <a:solidFill>
                  <a:srgbClr val="101824"/>
                </a:solidFill>
                <a:latin typeface="Calibri"/>
              </a:rPr>
              <a:t>•  7. TemplateModule.AddDecorator needs paired Bind&lt;T&gt;().AsTransient()</a:t>
            </a:r>
          </a:p>
          <a:p>
            <a:pPr algn="l">
              <a:spcAft>
                <a:spcPts val="800"/>
              </a:spcAft>
            </a:pPr>
            <a:r>
              <a:rPr sz="2200">
                <a:solidFill>
                  <a:srgbClr val="101824"/>
                </a:solidFill>
                <a:latin typeface="Calibri"/>
              </a:rPr>
              <a:t>•  8. IObjectLoader.Get(PropertyKey&lt;T&gt;) throws on missing keys — use Has()</a:t>
            </a:r>
          </a:p>
          <a:p>
            <a:pPr algn="l">
              <a:spcAft>
                <a:spcPts val="800"/>
              </a:spcAft>
            </a:pPr>
            <a:r>
              <a:rPr sz="2200">
                <a:solidFill>
                  <a:srgbClr val="101824"/>
                </a:solidFill>
                <a:latin typeface="Calibri"/>
              </a:rPr>
              <a:t>•  9. Custom weathers don't auto-fire entity controllers on save-restore</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Gotchas &amp; workflow   ·   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2286000"/>
          </a:xfrm>
          <a:prstGeom prst="rect">
            <a:avLst/>
          </a:prstGeom>
          <a:noFill/>
        </p:spPr>
        <p:txBody>
          <a:bodyPr wrap="square" anchor="ctr">
            <a:spAutoFit/>
          </a:bodyPr>
          <a:lstStyle/>
          <a:p>
            <a:pPr algn="ctr"/>
            <a:r>
              <a:rPr sz="4000" b="0">
                <a:solidFill>
                  <a:srgbClr val="F4F7FB"/>
                </a:solidFill>
                <a:latin typeface="Calibri Light"/>
              </a:rPr>
              <a:t>“What if water fell from the sky and made the map wet?”</a:t>
            </a:r>
          </a:p>
        </p:txBody>
      </p:sp>
      <p:sp>
        <p:nvSpPr>
          <p:cNvPr id="3" name="TextBox 2"/>
          <p:cNvSpPr txBox="1"/>
          <p:nvPr/>
        </p:nvSpPr>
        <p:spPr>
          <a:xfrm>
            <a:off x="548640" y="4297680"/>
            <a:ext cx="11094415" cy="731520"/>
          </a:xfrm>
          <a:prstGeom prst="rect">
            <a:avLst/>
          </a:prstGeom>
          <a:noFill/>
        </p:spPr>
        <p:txBody>
          <a:bodyPr wrap="square" anchor="ctr">
            <a:spAutoFit/>
          </a:bodyPr>
          <a:lstStyle/>
          <a:p>
            <a:pPr algn="ctr"/>
            <a:r>
              <a:rPr sz="2200" b="0">
                <a:solidFill>
                  <a:srgbClr val="AADCF0"/>
                </a:solidFill>
                <a:latin typeface="Calibri"/>
              </a:rPr>
              <a:t>— Jasper, feature request #5 (pending)</a:t>
            </a:r>
          </a:p>
        </p:txBody>
      </p:sp>
      <p:sp>
        <p:nvSpPr>
          <p:cNvPr id="4" name="TextBox 3"/>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#4: Rainy Season (future)   ·   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a:spAutoFit/>
          </a:bodyPr>
          <a:lstStyle/>
          <a:p>
            <a:pPr algn="l"/>
            <a:r>
              <a:rPr sz="3200" b="1">
                <a:solidFill>
                  <a:srgbClr val="0A203A"/>
                </a:solidFill>
                <a:latin typeface="Calibri"/>
              </a:rPr>
              <a:t>Mod #4 design sketch — where would we hook?</a:t>
            </a:r>
          </a:p>
        </p:txBody>
      </p:sp>
      <p:cxnSp>
        <p:nvCxnSpPr>
          <p:cNvPr id="3" name="Connector 2"/>
          <p:cNvCxnSpPr/>
          <p:nvPr/>
        </p:nvCxnSpPr>
        <p:spPr>
          <a:xfrm>
            <a:off x="548640" y="1143000"/>
            <a:ext cx="11094415" cy="0"/>
          </a:xfrm>
          <a:prstGeom prst="line">
            <a:avLst/>
          </a:prstGeom>
          <a:ln w="19050">
            <a:solidFill>
              <a:srgbClr val="2C74A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280160"/>
            <a:ext cx="11094415" cy="5120640"/>
          </a:xfrm>
          <a:prstGeom prst="rect">
            <a:avLst/>
          </a:prstGeom>
          <a:noFill/>
        </p:spPr>
        <p:txBody>
          <a:bodyPr wrap="square">
            <a:spAutoFit/>
          </a:bodyPr>
          <a:lstStyle/>
          <a:p>
            <a:pPr algn="l">
              <a:spcAft>
                <a:spcPts val="800"/>
              </a:spcAft>
            </a:pPr>
            <a:r>
              <a:rPr sz="2200">
                <a:solidFill>
                  <a:srgbClr val="101824"/>
                </a:solidFill>
                <a:latin typeface="Calibri"/>
              </a:rPr>
              <a:t>•  Goal: water visibly falls from the sky and the map's surface gets wet.</a:t>
            </a:r>
          </a:p>
          <a:p>
            <a:pPr algn="l">
              <a:spcAft>
                <a:spcPts val="800"/>
              </a:spcAft>
            </a:pPr>
            <a:r>
              <a:rPr sz="2200">
                <a:solidFill>
                  <a:srgbClr val="101824"/>
                </a:solidFill>
                <a:latin typeface="Calibri"/>
              </a:rPr>
              <a:t>•  Two components: a new IHazardousWeather (familiar) + a way to add water to map tiles.</a:t>
            </a:r>
          </a:p>
          <a:p>
            <a:pPr algn="l" lvl="1">
              <a:spcAft>
                <a:spcPts val="800"/>
              </a:spcAft>
            </a:pPr>
            <a:r>
              <a:rPr sz="1800">
                <a:solidFill>
                  <a:srgbClr val="556070"/>
                </a:solidFill>
                <a:latin typeface="Calibri"/>
              </a:rPr>
              <a:t>    –  Hazard plumbing: copy the FloodWeather pattern. Spoof Id, parallel branches in patches.</a:t>
            </a:r>
          </a:p>
          <a:p>
            <a:pPr algn="l" lvl="1">
              <a:spcAft>
                <a:spcPts val="800"/>
              </a:spcAft>
            </a:pPr>
            <a:r>
              <a:rPr sz="1800">
                <a:solidFill>
                  <a:srgbClr val="556070"/>
                </a:solidFill>
                <a:latin typeface="Calibri"/>
              </a:rPr>
              <a:t>    –  Water-adding mechanic: needs investigation. The workflow is the bit that's certain:</a:t>
            </a:r>
          </a:p>
          <a:p>
            <a:pPr algn="l" lvl="2">
              <a:spcAft>
                <a:spcPts val="800"/>
              </a:spcAft>
            </a:pPr>
            <a:r>
              <a:rPr sz="1800">
                <a:solidFill>
                  <a:srgbClr val="556070"/>
                </a:solidFill>
                <a:latin typeface="Calibri"/>
              </a:rPr>
              <a:t>        –  Decomp the WaterSystem DLL, grep for AddWater / AddDepth / column-mutation calls.</a:t>
            </a:r>
          </a:p>
          <a:p>
            <a:pPr algn="l" lvl="2">
              <a:spcAft>
                <a:spcPts val="800"/>
              </a:spcAft>
            </a:pPr>
            <a:r>
              <a:rPr sz="1800">
                <a:solidFill>
                  <a:srgbClr val="556070"/>
                </a:solidFill>
                <a:latin typeface="Calibri"/>
              </a:rPr>
              <a:t>        –  Pick a seam if one exists, otherwise plan a per-tile Harmony postfix.</a:t>
            </a:r>
          </a:p>
          <a:p>
            <a:pPr algn="l" lvl="2">
              <a:spcAft>
                <a:spcPts val="800"/>
              </a:spcAft>
            </a:pPr>
            <a:r>
              <a:rPr sz="1800">
                <a:solidFill>
                  <a:srgbClr val="556070"/>
                </a:solidFill>
                <a:latin typeface="Calibri"/>
              </a:rPr>
              <a:t>        –  Particle / visual layer: probably orthogonal. Game already has a rain shader for badtide.</a:t>
            </a:r>
          </a:p>
          <a:p>
            <a:pPr algn="l">
              <a:spcAft>
                <a:spcPts val="800"/>
              </a:spcAft>
            </a:pPr>
            <a:r>
              <a:rPr sz="2200">
                <a:solidFill>
                  <a:srgbClr val="101824"/>
                </a:solidFill>
                <a:latin typeface="Calibri"/>
              </a:rPr>
              <a:t>•  Risk: if water-adding isn't exposed, we're back in Harmony-cascade territory.</a:t>
            </a:r>
          </a:p>
        </p:txBody>
      </p:sp>
      <p:sp>
        <p:nvSpPr>
          <p:cNvPr id="5" name="TextBox 4"/>
          <p:cNvSpPr txBox="1"/>
          <p:nvPr/>
        </p:nvSpPr>
        <p:spPr>
          <a:xfrm>
            <a:off x="548640" y="6492240"/>
            <a:ext cx="11094415" cy="320040"/>
          </a:xfrm>
          <a:prstGeom prst="rect">
            <a:avLst/>
          </a:prstGeom>
          <a:noFill/>
        </p:spPr>
        <p:txBody>
          <a:bodyPr wrap="square" anchor="t">
            <a:spAutoFit/>
          </a:bodyPr>
          <a:lstStyle/>
          <a:p>
            <a:pPr algn="r"/>
            <a:r>
              <a:rPr sz="1000" b="0">
                <a:solidFill>
                  <a:srgbClr val="556070"/>
                </a:solidFill>
                <a:latin typeface="Calibri"/>
              </a:rPr>
              <a:t>Mod #4: Rainy Season (future)   ·   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203A"/>
        </a:solidFill>
        <a:effectLst/>
      </p:bgPr>
    </p:bg>
    <p:spTree>
      <p:nvGrpSpPr>
        <p:cNvPr id="1" name=""/>
        <p:cNvGrpSpPr/>
        <p:nvPr/>
      </p:nvGrpSpPr>
      <p:grpSpPr/>
      <p:sp>
        <p:nvSpPr>
          <p:cNvPr id="2" name="TextBox 1"/>
          <p:cNvSpPr txBox="1"/>
          <p:nvPr/>
        </p:nvSpPr>
        <p:spPr>
          <a:xfrm>
            <a:off x="548640" y="1828800"/>
            <a:ext cx="11094415" cy="1463040"/>
          </a:xfrm>
          <a:prstGeom prst="rect">
            <a:avLst/>
          </a:prstGeom>
          <a:noFill/>
        </p:spPr>
        <p:txBody>
          <a:bodyPr wrap="square" anchor="ctr">
            <a:spAutoFit/>
          </a:bodyPr>
          <a:lstStyle/>
          <a:p>
            <a:pPr algn="l"/>
            <a:r>
              <a:rPr sz="5600" b="1">
                <a:solidFill>
                  <a:srgbClr val="F4F7FB"/>
                </a:solidFill>
                <a:latin typeface="Calibri Light"/>
              </a:rPr>
              <a:t>Thanks</a:t>
            </a:r>
          </a:p>
        </p:txBody>
      </p:sp>
      <p:sp>
        <p:nvSpPr>
          <p:cNvPr id="3" name="TextBox 2"/>
          <p:cNvSpPr txBox="1"/>
          <p:nvPr/>
        </p:nvSpPr>
        <p:spPr>
          <a:xfrm>
            <a:off x="548640" y="3383280"/>
            <a:ext cx="11094415" cy="731520"/>
          </a:xfrm>
          <a:prstGeom prst="rect">
            <a:avLst/>
          </a:prstGeom>
          <a:noFill/>
        </p:spPr>
        <p:txBody>
          <a:bodyPr wrap="square" anchor="ctr">
            <a:spAutoFit/>
          </a:bodyPr>
          <a:lstStyle/>
          <a:p>
            <a:pPr algn="l"/>
            <a:r>
              <a:rPr sz="2800" b="0">
                <a:solidFill>
                  <a:srgbClr val="AADCF0"/>
                </a:solidFill>
                <a:latin typeface="Calibri"/>
              </a:rPr>
              <a:t>Questions?</a:t>
            </a:r>
          </a:p>
        </p:txBody>
      </p:sp>
      <p:sp>
        <p:nvSpPr>
          <p:cNvPr id="4" name="TextBox 3"/>
          <p:cNvSpPr txBox="1"/>
          <p:nvPr/>
        </p:nvSpPr>
        <p:spPr>
          <a:xfrm>
            <a:off x="548640" y="4206240"/>
            <a:ext cx="11094415" cy="548640"/>
          </a:xfrm>
          <a:prstGeom prst="rect">
            <a:avLst/>
          </a:prstGeom>
          <a:noFill/>
        </p:spPr>
        <p:txBody>
          <a:bodyPr wrap="square" anchor="ctr">
            <a:spAutoFit/>
          </a:bodyPr>
          <a:lstStyle/>
          <a:p>
            <a:pPr algn="l"/>
            <a:r>
              <a:rPr sz="1800" b="0">
                <a:solidFill>
                  <a:srgbClr val="F4F7FB"/>
                </a:solidFill>
                <a:latin typeface="Calibri"/>
              </a:rPr>
              <a:t>github.com/Spycho/timberborn-flood-mod   ·   designed by Jasper, age 6</a:t>
            </a:r>
          </a:p>
        </p:txBody>
      </p:sp>
      <p:sp>
        <p:nvSpPr>
          <p:cNvPr id="5" name="TextBox 4"/>
          <p:cNvSpPr txBox="1"/>
          <p:nvPr/>
        </p:nvSpPr>
        <p:spPr>
          <a:xfrm>
            <a:off x="548640" y="6035040"/>
            <a:ext cx="11094415" cy="457200"/>
          </a:xfrm>
          <a:prstGeom prst="rect">
            <a:avLst/>
          </a:prstGeom>
          <a:noFill/>
        </p:spPr>
        <p:txBody>
          <a:bodyPr wrap="square" anchor="t">
            <a:spAutoFit/>
          </a:bodyPr>
          <a:lstStyle/>
          <a:p>
            <a:pPr algn="l"/>
            <a:r>
              <a:rPr sz="1200" b="0">
                <a:solidFill>
                  <a:srgbClr val="556070"/>
                </a:solidFill>
                <a:latin typeface="Calibri"/>
              </a:rPr>
              <a:t>Kallikor tech guild   ·   2026-09-10   ·   https://github.com/Spycho/timberborn-flood-mod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