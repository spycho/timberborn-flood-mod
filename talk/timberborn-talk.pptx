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line: 'This is a talk about a Timberborn mod. Specifically, it's a talk about doing a parent-child collaboration where the child is the customer and the parent is the engineer, and what that exercise teaches you about modding a Unity game without ever opening Unity.'</a:t>
            </a:r>
          </a:p>
          <a:p/>
          <a:p>
            <a:r>
              <a:t>Don't apologise for the kid being absent — frame him as the customer who approved the work async.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quote, pause, then: 'This is how the project started. He plays Timberborn, the wet seasons aren't wet enough for him, so he asks me to fix it. I tell him I'll see what I can do.'</a:t>
            </a:r>
          </a:p>
          <a:p/>
          <a:p>
            <a:r>
              <a:t>If the actual quote is different, swap KID_QUOTE_OPENING at the top of the script.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30-second tour, no narrative — just show the destination. Don't explain anything yet, that's the whole rest of the talk. The point is to set expectations of what 'done' looks like.</a:t>
            </a:r>
          </a:p>
          <a:p/>
          <a:p>
            <a:r>
              <a:t>In-game steps:</a:t>
            </a:r>
          </a:p>
          <a:p>
            <a:r>
              <a:t>  1. Switch to Timberborn (already running, autosave loaded mid-flood).</a:t>
            </a:r>
          </a:p>
          <a:p>
            <a:r>
              <a:t>  2. Show date-panel icon (flood drop) + 'A flood has begun!' banner.</a:t>
            </a:r>
          </a:p>
          <a:p>
            <a:r>
              <a:t>  3. Trigger a Mixed Tide (or load a Mixed-Tide autosave).</a:t>
            </a:r>
          </a:p>
          <a:p>
            <a:r>
              <a:t>  4. Point at the partially-contaminated water emitting from sources.</a:t>
            </a:r>
          </a:p>
          <a:p>
            <a:r>
              <a:t>  5. Switch back to slides — 'OK, now how did we get here.'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~45 seconds here, no more. Audience just needs to know there are WATER SOURCES, BEAVERS, and HAZARDS. We're modding the hazards and the water flow.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to land here:</a:t>
            </a:r>
          </a:p>
          <a:p>
            <a:r>
              <a:t>1. The mod IS the folder — no installer, no scripts, just drop a Code.dll.</a:t>
            </a:r>
          </a:p>
          <a:p>
            <a:r>
              <a:t>2. 'RECURSIVE' is doing a lot of work in that sentence. Any Code.dll under the folder gets loaded. We'll come back to this when worktrees explode.</a:t>
            </a:r>
          </a:p>
          <a:p/>
          <a:p>
            <a:r>
              <a:t>If anyone asks: yes the IModStarter discovery is just reflection. Yes that would be cleaner with a manifest entry. No it doesn't matter.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Harmony as a tool of last resort, not a first reach. Half the talk is about what happens when you DO have to reach for it — but the audience should leave knowing the order: read the code, find the seam, patch only when there's no seam.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reveal here is HOW EASY this is. You install one .NET tool. You point it at a DLL. You get readable C#. The game's authors didn't obfuscate, so everything you decompile reads more or less the way they wrote it.</a:t>
            </a:r>
          </a:p>
          <a:p/>
          <a:p>
            <a:r>
              <a:t>Important: this is for READING. Not for redistributing or modifying. You're reading public-ish API surface to figure out where to hook 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WIN here. We have:</a:t>
            </a:r>
          </a:p>
          <a:p>
            <a:r>
              <a:t>  - a one-method interface</a:t>
            </a:r>
          </a:p>
          <a:p>
            <a:r>
              <a:t>  - a multiplicative composition chain (so we don't fight other modifiers)</a:t>
            </a:r>
          </a:p>
          <a:p>
            <a:r>
              <a:t>  - a per-entity registration point (AddWaterStrengthModifier)</a:t>
            </a:r>
          </a:p>
          <a:p/>
          <a:p>
            <a:r>
              <a:t>This is the cleanest possible modding seam. We just implement the interface and ride the existing tick loop.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top to bottom. The audience should notice:</a:t>
            </a:r>
          </a:p>
          <a:p>
            <a:r>
              <a:t>  - Per-cycle weather dispatch is a C# 8 switch expression</a:t>
            </a:r>
          </a:p>
          <a:p>
            <a:r>
              <a:t>  - FloodWeather and MixedTideWeather appear here as types we'll define later</a:t>
            </a:r>
          </a:p>
          <a:p>
            <a:r>
              <a:t>  - Drought is conspicuously absent — there's a Harmony patch on the game's own drought modifier that we'll touch later (sneak preview of 'patch as last resort')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Bindito is a custom-built DI container in Timberborn (similar shape to Zenject but lighter). The decorator hint [Context("Game")] is what makes it run during a game session — there's a separate MainMenu context.</a:t>
            </a:r>
          </a:p>
          <a:p/>
          <a:p>
            <a:r>
              <a:t>Important: 'AsSingleton' is LAZY. The instance only constructs when something resolves it. We'll come back to that — it's gotcha #3.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Decorators are the pattern: 'when an entity has component T1, attach T2 to the same entity'. The vanilla game uses this pattern to attach the badtide contamination controller to every water source — we copied the pattern, literally.</a:t>
            </a:r>
          </a:p>
          <a:p/>
          <a:p>
            <a:r>
              <a:t>Gotcha that bit us in Phase B of Mixed Tide: AddDecorator declares the ATTACH but NOT the BUILD. You also need Bind&lt;T&gt;().AsTransient() or Bindito crashes when materialising the first preview. Documented in CLAUDE.md.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Worth pointing out: this is a mod depending on another mod. We declare eMka.ModSettings as a required dependency in manifest.json. The mod loader enforces dependency order.</a:t>
            </a:r>
          </a:p>
          <a:p/>
          <a:p>
            <a:r>
              <a:t>The UI is reflected — we don't write any UI code. Just declare ModSetting&lt;T&gt; properties on a class and the library renders matching controls.</a:t>
            </a:r>
          </a:p>
          <a:p/>
          <a:p>
            <a:r>
              <a:t>This is what makes the mod feel like a real product: the user can twiddle knobs without editing JSON.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demo. Make sure the game's already at a save with a few water sources visible — empty map will be undramatic.</a:t>
            </a:r>
          </a:p>
          <a:p/>
          <a:p>
            <a:r>
              <a:t>Talking point during the demo: 'this is the WHOLE mod, basically. Implement an interface, register one Configurator, you're done. Took about an hour the first time.'</a:t>
            </a:r>
          </a:p>
          <a:p/>
          <a:p>
            <a:r>
              <a:t>In-game steps:</a:t>
            </a:r>
          </a:p>
          <a:p>
            <a:r>
              <a:t>  1. Open Mod Settings panel in-game.</a:t>
            </a:r>
          </a:p>
          <a:p>
            <a:r>
              <a:t>  2. Set 'Temperate flow multiplier (%)' to 500.</a:t>
            </a:r>
          </a:p>
          <a:p>
            <a:r>
              <a:t>  3. Close settings — point at water sources, flow jumps.</a:t>
            </a:r>
          </a:p>
          <a:p>
            <a:r>
              <a:t>  4. Set it back to 200 (default) to keep things sane.</a:t>
            </a:r>
          </a:p>
          <a:p>
            <a:r>
              <a:t>  5. Optional: speed-time to make the effect visible faster.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pivot point of the talk. Up to here we've been doing 'clean modding'. From here on we're rewriting compiled methods at runtime. The audience should feel the gear shift.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this hard. The audience should appreciate that the game's authors didn't WANT this to be extensible. They wrote drought-or-badtide and moved on.</a:t>
            </a:r>
          </a:p>
          <a:p/>
          <a:p>
            <a:r>
              <a:t>We're about to overwrite the return value of this method at runtime. With no permission. Welcome to Harmony.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anyone in the audience knows about Harmony from RimWorld or Stardew or BepInEx, they'll nod. For everyone else, the key model is: instead of shipping a modified game executable, you ship a recipe for patching the running game in memory.</a:t>
            </a:r>
          </a:p>
          <a:p/>
          <a:p>
            <a:r>
              <a:t>Mention: depending on Harmony in Timberborn means depending on the 'Harmony for Timberborn' workshop mod (the game doesn't bundle 0Harmony.dll itself). That's why our manifest.json declares it as required.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surprise: this is all it takes to extend a method that has no extension point. The original runs (so the game's internal streak tracking still ticks normally), then we get a chance to overwrite the return value.</a:t>
            </a:r>
          </a:p>
          <a:p/>
          <a:p>
            <a:r>
              <a:t>Important detail for the audience: __result has TWO underscores because Harmony has a magic-parameter convention. We'll see four underscores in a few slides — that's a different convention for instance fields. Don't worry about it yet.</a:t>
            </a:r>
          </a:p>
          <a:p/>
          <a:p>
            <a:r>
              <a:t>The static FloodWeather.Instance dodge: Harmony patches are static methods, so they can't take DI. We publish a static accessor from the Bindito-managed FloodWeather constructor. Discuss if Q&amp;A asks.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try to demo on an existing save where the cycle's weather was already decided as drought — settings changes never retro-apply mid-cycle. New game.</a:t>
            </a:r>
          </a:p>
          <a:p/>
          <a:p>
            <a:r>
              <a:t>Talking point during demo: 'Notice the icon, the banner, the labels — they all still say drought. We're not done. We're just at the point where the GAME LOGIC thinks it's a flood. The UI catches up over the next twenty minutes.'</a:t>
            </a:r>
          </a:p>
          <a:p/>
          <a:p>
            <a:r>
              <a:t>In-game steps:</a:t>
            </a:r>
          </a:p>
          <a:p>
            <a:r>
              <a:t>  1. Open Mod Settings, enable Flood Season, set probability to 100%.</a:t>
            </a:r>
          </a:p>
          <a:p>
            <a:r>
              <a:t>  2. Set grace cycles to 0 (so the first hazard fires immediately).</a:t>
            </a:r>
          </a:p>
          <a:p>
            <a:r>
              <a:t>  3. Start a NEW game (cycle weather is decided AT CYCLE START — gotcha #6).</a:t>
            </a:r>
          </a:p>
          <a:p>
            <a:r>
              <a:t>  4. Fast-forward to the first hazardous cycle.</a:t>
            </a:r>
          </a:p>
          <a:p>
            <a:r>
              <a:t>  5. Point at the panel: 'A flood has begun!' (instead of the usual drought/badtide).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motivates the rest of the technical section. The audience should walk away with: 'introducing one new type into a hardcoded domain causes a cascade. The cost of bypassing the seam isn't four lines, it's the long tail of vanilla code that fights back.'</a:t>
            </a:r>
          </a:p>
          <a:p/>
          <a:p>
            <a:r>
              <a:t>Set expectations: we'll walk through the categories of breakage, with one representative fix each. Then circle back to the maintainability of all this when we do it AGAIN for Mixed Tide.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 is a Harmony PREFIX that returns false (skips the original) when our flood is current — substituting the drought UI spec in its place. We'll show that in two slides.</a:t>
            </a:r>
          </a:p>
          <a:p/>
          <a:p>
            <a:r>
              <a:t>But first: there are at least THREE places like this. UI helper. Sound player. Sun fog spec. Each throws differently. Some by C# type, some by string Id. That's why the next slide is about Id spoofing.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one of the cleverer bits and worth slowing down for. The trick:</a:t>
            </a:r>
          </a:p>
          <a:p>
            <a:r>
              <a:t>  - For string-keyed lookups, lie about the id. Inherit drought's data.</a:t>
            </a:r>
          </a:p>
          <a:p>
            <a:r>
              <a:t>  - For type-based dispatch, the C# type stays distinct. Our own code can still distinguish flood from drought via 'is FloodWeather'.</a:t>
            </a:r>
          </a:p>
          <a:p/>
          <a:p>
            <a:r>
              <a:t>The side effect — that vanilla's HazardousWeatherHistory counts our floods as droughts and slightly affects its handicap math — is acceptable for our scope. Mention it as a known wart, don't dwell.</a:t>
            </a:r>
          </a:p>
          <a:p/>
          <a:p>
            <a:r>
              <a:t>Mixed Tide does the same trick but spoofs as 'BadtideWeather'. Two custom hazards, two id-spoofs, no fog crashes.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audience reaction here should be: 'oh god'. Yes. This is the kind of library convention that bites once and you remember forever.</a:t>
            </a:r>
          </a:p>
          <a:p/>
          <a:p>
            <a:r>
              <a:t>Show this slide for ~30 seconds. Don't dwell — the point isn't to teach Harmony's calling convention, it's to convey 'this is what the actual code looks like, this is the friction, this is why CLAUDE.md gets a gotcha section.'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walkthrough of three UI surfaces. The first two are 'inline override of a CSS-driven background-image' — straightforward Unity UI Toolkit.</a:t>
            </a:r>
          </a:p>
          <a:p/>
          <a:p>
            <a:r>
              <a:t>The third one (the progress strip) is where it gets interesting — that's the next slide. The bar uses a custom mesh that reads its sprite from a deferred-resolved custom-CSS-property. We fought the resolver.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one of the meatier bits of the talk. The lesson: UI Toolkit's custom style resolution is queued, not synchronous. Race conditions are real even in single-threaded UI code.</a:t>
            </a:r>
          </a:p>
          <a:p/>
          <a:p>
            <a:r>
              <a:t>The way we found this: added Debug.Log to both candidate patches. One log fired, the other didn't. Inferred the resolver was running between our postfix and the next repaint.</a:t>
            </a:r>
          </a:p>
          <a:p/>
          <a:p>
            <a:r>
              <a:t>Mention CLAUDE.md gotcha entry — captured for next time.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vanilla schema is fundamentally incapable of representing our state. We can't extend it without breaking save compatibility, so we side-car: our own singleton-keyed save data alongside vanilla's.</a:t>
            </a:r>
          </a:p>
          <a:p/>
          <a:p>
            <a:r>
              <a:t>AccessTools.PropertySetter is a Harmony utility — bypasses the private-setter access check and gives you the setter MethodInfo.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pieces of folklore on this slide:</a:t>
            </a:r>
          </a:p>
          <a:p/>
          <a:p>
            <a:r>
              <a:t>1. The 'always write both keys' lesson — gotcha #8 in CLAUDE.md. We learned this by reading only the flood bool first on a mixed-tide save and crashing in SerializedObject.Get('Property not found: IsFloodActive').</a:t>
            </a:r>
          </a:p>
          <a:p/>
          <a:p>
            <a:r>
              <a:t>2. The fake EndedEvent — vanilla badtide-contamination controllers turned on during the boot phase before our PostLoad could correct the weather. We post a synthetic 'badtide ended' event to walk every contamination controller through its disable handler. THIS is where the next slide picks up.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Audience reaction here should be a wince. We solved one bug by posting an event with the wrong meaning, then had to add another patch to suppress the wrong half of that meaning.</a:t>
            </a:r>
          </a:p>
          <a:p/>
          <a:p>
            <a:r>
              <a:t>The framing for the talk: this is what 'patch as last resort' actually costs. Each patch is small. The COMPOSITION of patches gets complicated. Every fake-event needs a guard to prevent another subscriber from doing the wrong thing.</a:t>
            </a:r>
          </a:p>
          <a:p/>
          <a:p>
            <a:r>
              <a:t>Lesson worth landing: synthetic events leak across subscribers you didn't intend. There's no 'private channel' on Timberborn's EventBus.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kid's second feature request. After the floods worked, he wanted another mechanic — water that's partly bad, partly clean.</a:t>
            </a:r>
          </a:p>
          <a:p/>
          <a:p>
            <a:r>
              <a:t>Set up the rest of the section: 'Now I'm going to walk you through what doing all of this AGAIN, for a second custom hazard, taught us about the patch design we'd just shipped.'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Mixed Tide mechanic is genuinely just 'find the right variable, write to it'. The hard part was confirming it was a real ratio and not a binary threshold somewhere downstream. We confirmed by reading the simulation.</a:t>
            </a:r>
          </a:p>
          <a:p/>
          <a:p>
            <a:r>
              <a:t>Hat-tip to the game's authors: the contamination value flows through the water-column simulation as a real fraction. No hardcoded 'if &gt; 0 emit bad water'. Means our 30% setting produces actual 30%/70% mixed water that diffuses across the map naturally.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for this slide: the patch design from Flood Season held up. Mixed Tide didn't require RESTRUCTURING anything — every existing patch just needed one more conditional branch.</a:t>
            </a:r>
          </a:p>
          <a:p/>
          <a:p>
            <a:r>
              <a:t>Three new gotchas to call out — each captured in CLAUDE.md so future-me doesn't re-step on them.</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worktree-pollution story is great talk material because it's non-obvious. The mod folder is your repo, your worktrees live inside the repo (Claude Code convention), worktree builds drop their output relative to the worktree, and the game's recursive scan picks them all up.</a:t>
            </a:r>
          </a:p>
          <a:p/>
          <a:p>
            <a:r>
              <a:t>We hit this in real time during a debugging session — five copies of Code.dll under the mod folder, Harmony wrapper name UpdateCurrentUISpecification_Patch5, every singleton registered five times. Documented the fix in Directory.Build.props.</a:t>
            </a:r>
          </a:p>
          <a:p/>
          <a:p>
            <a:r>
              <a:t>End on a positive: the commit history itself is documentation. Per-phase commits with detailed messages → git log reads as a tutorial for the next person who wants to mod this game.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anyone takes a photo of one slide during the talk, it'll be this one. Land it slowly. These are the nine landmines documented in CLAUDE.md.</a:t>
            </a:r>
          </a:p>
          <a:p/>
          <a:p>
            <a:r>
              <a:t>'Slide-quality commit messages + a gotcha catalogue in the repo' is the practice. Next time someone in this room mods Timberborn, they have a shorter path through.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closing bullet is yours, not the script's. Write something true and specific. The placeholder is just to make sure the deck reads end-to-end while you're iterating.</a:t>
            </a:r>
          </a:p>
          <a:p/>
          <a:p>
            <a:r>
              <a:t>Possible angles if you're stuck:</a:t>
            </a:r>
          </a:p>
          <a:p>
            <a:r>
              <a:t>  - Specs from a 6yo are EXACTLY what good specs should be: behaviour-centric, no implementation prescription.</a:t>
            </a:r>
          </a:p>
          <a:p>
            <a:r>
              <a:t>  - He was the world's most honest user-tester. 'It's boring' is brutal feedback.</a:t>
            </a:r>
          </a:p>
          <a:p>
            <a:r>
              <a:t>  - The kid couldn't have cared less about the patch design. He cared about whether the floods were big. That's the right thing to care about.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Q&amp;A starts here. ~10 minutes.</a:t>
            </a:r>
          </a:p>
          <a:p/>
          <a:p>
            <a:r>
              <a:t>Likely questions to prep for:</a:t>
            </a:r>
          </a:p>
          <a:p>
            <a:r>
              <a:t>  - 'Why not contribute a PR to Timberborn instead?' — Mechanistry doesn't take random PRs; mod ecosystem is the supported extension point.</a:t>
            </a:r>
          </a:p>
          <a:p>
            <a:r>
              <a:t>  - 'Is this on the Steam Workshop?' — Not yet. The build is hardened for publication (paths, gitignore) but I haven't packaged it for Workshop.</a:t>
            </a:r>
          </a:p>
          <a:p>
            <a:r>
              <a:t>  - 'How long did this take?' — Roughly N evenings; specifics in git history.</a:t>
            </a:r>
          </a:p>
          <a:p>
            <a:r>
              <a:t>  - 'Could the kid actually read the code?' — He couldn't read most of it. He understood the SHAPE — 'this part picks the weather', 'this part draws the picture' — and he made decisions at that level.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203A"/>
        </a:solidFill>
        <a:effectLst/>
      </p:bgPr>
    </p:bg>
    <p:spTree>
      <p:nvGrpSpPr>
        <p:cNvPr id="1" name=""/>
        <p:cNvGrpSpPr/>
        <p:nvPr/>
      </p:nvGrpSpPr>
      <p:grpSpPr/>
      <p:sp>
        <p:nvSpPr>
          <p:cNvPr id="2" name="TextBox 1"/>
          <p:cNvSpPr txBox="1"/>
          <p:nvPr/>
        </p:nvSpPr>
        <p:spPr>
          <a:xfrm>
            <a:off x="548640" y="1828800"/>
            <a:ext cx="11094415" cy="1463040"/>
          </a:xfrm>
          <a:prstGeom prst="rect">
            <a:avLst/>
          </a:prstGeom>
          <a:noFill/>
        </p:spPr>
        <p:txBody>
          <a:bodyPr wrap="square" anchor="ctr">
            <a:spAutoFit/>
          </a:bodyPr>
          <a:lstStyle/>
          <a:p>
            <a:pPr algn="l"/>
            <a:r>
              <a:rPr sz="5600" b="1">
                <a:solidFill>
                  <a:srgbClr val="F4F7FB"/>
                </a:solidFill>
                <a:latin typeface="Calibri Light"/>
              </a:rPr>
              <a:t>Modding Timberborn</a:t>
            </a:r>
          </a:p>
        </p:txBody>
      </p:sp>
      <p:sp>
        <p:nvSpPr>
          <p:cNvPr id="3" name="TextBox 2"/>
          <p:cNvSpPr txBox="1"/>
          <p:nvPr/>
        </p:nvSpPr>
        <p:spPr>
          <a:xfrm>
            <a:off x="548640" y="3383280"/>
            <a:ext cx="11094415" cy="731520"/>
          </a:xfrm>
          <a:prstGeom prst="rect">
            <a:avLst/>
          </a:prstGeom>
          <a:noFill/>
        </p:spPr>
        <p:txBody>
          <a:bodyPr wrap="square" anchor="ctr">
            <a:spAutoFit/>
          </a:bodyPr>
          <a:lstStyle/>
          <a:p>
            <a:pPr algn="l"/>
            <a:r>
              <a:rPr sz="2800" b="0">
                <a:solidFill>
                  <a:srgbClr val="AADCF0"/>
                </a:solidFill>
                <a:latin typeface="Calibri"/>
              </a:rPr>
              <a:t>The project my 6-year-old came up with</a:t>
            </a:r>
          </a:p>
        </p:txBody>
      </p:sp>
      <p:sp>
        <p:nvSpPr>
          <p:cNvPr id="4" name="TextBox 3"/>
          <p:cNvSpPr txBox="1"/>
          <p:nvPr/>
        </p:nvSpPr>
        <p:spPr>
          <a:xfrm>
            <a:off x="548640" y="4206240"/>
            <a:ext cx="11094415" cy="548640"/>
          </a:xfrm>
          <a:prstGeom prst="rect">
            <a:avLst/>
          </a:prstGeom>
          <a:noFill/>
        </p:spPr>
        <p:txBody>
          <a:bodyPr wrap="square" anchor="ctr">
            <a:spAutoFit/>
          </a:bodyPr>
          <a:lstStyle/>
          <a:p>
            <a:pPr algn="l"/>
            <a:r>
              <a:rPr sz="1800" b="0">
                <a:solidFill>
                  <a:srgbClr val="F4F7FB"/>
                </a:solidFill>
                <a:latin typeface="Calibri"/>
              </a:rPr>
              <a:t>Designed by TODO_SON_NAME (age 6) · Built by Chris Brett</a:t>
            </a:r>
          </a:p>
        </p:txBody>
      </p:sp>
      <p:sp>
        <p:nvSpPr>
          <p:cNvPr id="5" name="TextBox 4"/>
          <p:cNvSpPr txBox="1"/>
          <p:nvPr/>
        </p:nvSpPr>
        <p:spPr>
          <a:xfrm>
            <a:off x="548640" y="6035040"/>
            <a:ext cx="11094415" cy="457200"/>
          </a:xfrm>
          <a:prstGeom prst="rect">
            <a:avLst/>
          </a:prstGeom>
          <a:noFill/>
        </p:spPr>
        <p:txBody>
          <a:bodyPr wrap="square" anchor="t">
            <a:spAutoFit/>
          </a:bodyPr>
          <a:lstStyle/>
          <a:p>
            <a:pPr algn="l"/>
            <a:r>
              <a:rPr sz="1200" b="0">
                <a:solidFill>
                  <a:srgbClr val="556070"/>
                </a:solidFill>
                <a:latin typeface="Calibri"/>
              </a:rPr>
              <a:t>Kallikor tech guild   ·   2026-09-10   ·   https://github.com/Spycho/timberborn-flood-mod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203A"/>
        </a:solidFill>
        <a:effectLst/>
      </p:bgPr>
    </p:bg>
    <p:spTree>
      <p:nvGrpSpPr>
        <p:cNvPr id="1" name=""/>
        <p:cNvGrpSpPr/>
        <p:nvPr/>
      </p:nvGrpSpPr>
      <p:grpSpPr/>
      <p:sp>
        <p:nvSpPr>
          <p:cNvPr id="2" name="TextBox 1"/>
          <p:cNvSpPr txBox="1"/>
          <p:nvPr/>
        </p:nvSpPr>
        <p:spPr>
          <a:xfrm>
            <a:off x="548640" y="1828800"/>
            <a:ext cx="11094415" cy="2286000"/>
          </a:xfrm>
          <a:prstGeom prst="rect">
            <a:avLst/>
          </a:prstGeom>
          <a:noFill/>
        </p:spPr>
        <p:txBody>
          <a:bodyPr wrap="square" anchor="ctr">
            <a:spAutoFit/>
          </a:bodyPr>
          <a:lstStyle/>
          <a:p>
            <a:pPr algn="ctr"/>
            <a:r>
              <a:rPr sz="4000" b="0">
                <a:solidFill>
                  <a:srgbClr val="F4F7FB"/>
                </a:solidFill>
                <a:latin typeface="Calibri Light"/>
              </a:rPr>
              <a:t>“Daddy, can you make it rain bigger?”</a:t>
            </a:r>
          </a:p>
        </p:txBody>
      </p:sp>
      <p:sp>
        <p:nvSpPr>
          <p:cNvPr id="3" name="TextBox 2"/>
          <p:cNvSpPr txBox="1"/>
          <p:nvPr/>
        </p:nvSpPr>
        <p:spPr>
          <a:xfrm>
            <a:off x="548640" y="4297680"/>
            <a:ext cx="11094415" cy="731520"/>
          </a:xfrm>
          <a:prstGeom prst="rect">
            <a:avLst/>
          </a:prstGeom>
          <a:noFill/>
        </p:spPr>
        <p:txBody>
          <a:bodyPr wrap="square" anchor="ctr">
            <a:spAutoFit/>
          </a:bodyPr>
          <a:lstStyle/>
          <a:p>
            <a:pPr algn="ctr"/>
            <a:r>
              <a:rPr sz="2200" b="0">
                <a:solidFill>
                  <a:srgbClr val="AADCF0"/>
                </a:solidFill>
                <a:latin typeface="Calibri"/>
              </a:rPr>
              <a:t>— TODO_SON_NAME, age 6 — feature request #1</a:t>
            </a:r>
          </a:p>
        </p:txBody>
      </p:sp>
      <p:sp>
        <p:nvSpPr>
          <p:cNvPr id="4" name="TextBox 3"/>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Opening   ·   2 / 34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2406E"/>
        </a:solidFill>
        <a:effectLst/>
      </p:bgPr>
    </p:bg>
    <p:spTree>
      <p:nvGrpSpPr>
        <p:cNvPr id="1" name=""/>
        <p:cNvGrpSpPr/>
        <p:nvPr/>
      </p:nvGrpSpPr>
      <p:grpSpPr/>
      <p:sp>
        <p:nvSpPr>
          <p:cNvPr id="2" name="TextBox 1"/>
          <p:cNvSpPr txBox="1"/>
          <p:nvPr/>
        </p:nvSpPr>
        <p:spPr>
          <a:xfrm>
            <a:off x="548640" y="457200"/>
            <a:ext cx="11094415" cy="914400"/>
          </a:xfrm>
          <a:prstGeom prst="rect">
            <a:avLst/>
          </a:prstGeom>
          <a:noFill/>
        </p:spPr>
        <p:txBody>
          <a:bodyPr wrap="square" anchor="ctr">
            <a:spAutoFit/>
          </a:bodyPr>
          <a:lstStyle/>
          <a:p>
            <a:pPr algn="l"/>
            <a:r>
              <a:rPr sz="1800" b="1">
                <a:solidFill>
                  <a:srgbClr val="AADCF0"/>
                </a:solidFill>
                <a:latin typeface="Calibri Light"/>
              </a:rPr>
              <a:t>LIVE DEMO</a:t>
            </a:r>
          </a:p>
        </p:txBody>
      </p:sp>
      <p:sp>
        <p:nvSpPr>
          <p:cNvPr id="3" name="TextBox 2"/>
          <p:cNvSpPr txBox="1"/>
          <p:nvPr/>
        </p:nvSpPr>
        <p:spPr>
          <a:xfrm>
            <a:off x="548640" y="1280160"/>
            <a:ext cx="11094415" cy="1097280"/>
          </a:xfrm>
          <a:prstGeom prst="rect">
            <a:avLst/>
          </a:prstGeom>
          <a:noFill/>
        </p:spPr>
        <p:txBody>
          <a:bodyPr wrap="square" anchor="ctr">
            <a:spAutoFit/>
          </a:bodyPr>
          <a:lstStyle/>
          <a:p>
            <a:pPr algn="l"/>
            <a:r>
              <a:rPr sz="4400" b="1">
                <a:solidFill>
                  <a:srgbClr val="F4F7FB"/>
                </a:solidFill>
                <a:latin typeface="Calibri Light"/>
              </a:rPr>
              <a:t>Where we're going — final mod, live</a:t>
            </a:r>
          </a:p>
        </p:txBody>
      </p:sp>
      <p:sp>
        <p:nvSpPr>
          <p:cNvPr id="4" name="TextBox 3"/>
          <p:cNvSpPr txBox="1"/>
          <p:nvPr/>
        </p:nvSpPr>
        <p:spPr>
          <a:xfrm>
            <a:off x="548640" y="2926080"/>
            <a:ext cx="11094415" cy="3200400"/>
          </a:xfrm>
          <a:prstGeom prst="rect">
            <a:avLst/>
          </a:prstGeom>
          <a:noFill/>
        </p:spPr>
        <p:txBody>
          <a:bodyPr wrap="square">
            <a:spAutoFit/>
          </a:bodyPr>
          <a:lstStyle/>
          <a:p>
            <a:pPr algn="l">
              <a:spcAft>
                <a:spcPts val="1000"/>
              </a:spcAft>
            </a:pPr>
            <a:r>
              <a:rPr sz="2000">
                <a:solidFill>
                  <a:srgbClr val="F4F7FB"/>
                </a:solidFill>
                <a:latin typeface="Calibri"/>
              </a:rPr>
              <a:t>1.  Switch to Timberborn (already running, autosave loaded mid-flood).</a:t>
            </a:r>
          </a:p>
          <a:p>
            <a:pPr algn="l">
              <a:spcAft>
                <a:spcPts val="1000"/>
              </a:spcAft>
            </a:pPr>
            <a:r>
              <a:rPr sz="2000">
                <a:solidFill>
                  <a:srgbClr val="F4F7FB"/>
                </a:solidFill>
                <a:latin typeface="Calibri"/>
              </a:rPr>
              <a:t>2.  Show date-panel icon (flood drop) + 'A flood has begun!' banner.</a:t>
            </a:r>
          </a:p>
          <a:p>
            <a:pPr algn="l">
              <a:spcAft>
                <a:spcPts val="1000"/>
              </a:spcAft>
            </a:pPr>
            <a:r>
              <a:rPr sz="2000">
                <a:solidFill>
                  <a:srgbClr val="F4F7FB"/>
                </a:solidFill>
                <a:latin typeface="Calibri"/>
              </a:rPr>
              <a:t>3.  Trigger a Mixed Tide (or load a Mixed-Tide autosave).</a:t>
            </a:r>
          </a:p>
          <a:p>
            <a:pPr algn="l">
              <a:spcAft>
                <a:spcPts val="1000"/>
              </a:spcAft>
            </a:pPr>
            <a:r>
              <a:rPr sz="2000">
                <a:solidFill>
                  <a:srgbClr val="F4F7FB"/>
                </a:solidFill>
                <a:latin typeface="Calibri"/>
              </a:rPr>
              <a:t>4.  Point at the partially-contaminated water emitting from sources.</a:t>
            </a:r>
          </a:p>
          <a:p>
            <a:pPr algn="l">
              <a:spcAft>
                <a:spcPts val="1000"/>
              </a:spcAft>
            </a:pPr>
            <a:r>
              <a:rPr sz="2000">
                <a:solidFill>
                  <a:srgbClr val="F4F7FB"/>
                </a:solidFill>
                <a:latin typeface="Calibri"/>
              </a:rPr>
              <a:t>5.  Switch back to slides — 'OK, now how did we get here.'</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Opening   ·   3 / 34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Timberborn in 60 seconds</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Beaver colony sim — build dams, store water, survive seasonal hazards</a:t>
            </a:r>
          </a:p>
          <a:p>
            <a:pPr algn="l">
              <a:spcAft>
                <a:spcPts val="800"/>
              </a:spcAft>
            </a:pPr>
            <a:r>
              <a:rPr sz="2200">
                <a:solidFill>
                  <a:srgbClr val="101824"/>
                </a:solidFill>
                <a:latin typeface="Calibri"/>
              </a:rPr>
              <a:t>•  Three weather phases: Temperate, then either Drought or Badtide (contaminated water)</a:t>
            </a:r>
          </a:p>
          <a:p>
            <a:pPr algn="l">
              <a:spcAft>
                <a:spcPts val="800"/>
              </a:spcAft>
            </a:pPr>
            <a:r>
              <a:rPr sz="2200">
                <a:solidFill>
                  <a:srgbClr val="101824"/>
                </a:solidFill>
                <a:latin typeface="Calibri"/>
              </a:rPr>
              <a:t>•  Made by Mechanistry. Unity engine. Ships with an official mod loader</a:t>
            </a:r>
          </a:p>
          <a:p>
            <a:pPr algn="l">
              <a:spcAft>
                <a:spcPts val="800"/>
              </a:spcAft>
            </a:pPr>
            <a:r>
              <a:rPr sz="2200">
                <a:solidFill>
                  <a:srgbClr val="101824"/>
                </a:solidFill>
                <a:latin typeface="Calibri"/>
              </a:rPr>
              <a:t>•  (That's all the lore you need for the rest of the talk)</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What we're modding   ·   4 / 34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How Timberborn loads mods</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Documents/Timberborn/Mods/Flood Season/</a:t>
            </a:r>
          </a:p>
          <a:p>
            <a:pPr algn="l"/>
            <a:r>
              <a:rPr sz="1600">
                <a:solidFill>
                  <a:srgbClr val="101824"/>
                </a:solidFill>
                <a:latin typeface="Consolas"/>
              </a:rPr>
              <a:t>    manifest.json     # name, version, required-mods</a:t>
            </a:r>
          </a:p>
          <a:p>
            <a:pPr algn="l"/>
            <a:r>
              <a:rPr sz="1600">
                <a:solidFill>
                  <a:srgbClr val="101824"/>
                </a:solidFill>
                <a:latin typeface="Consolas"/>
              </a:rPr>
              <a:t>    Code.dll          # your compiled C# assembly</a:t>
            </a:r>
          </a:p>
          <a:p>
            <a:pPr algn="l"/>
            <a:r>
              <a:rPr sz="1600">
                <a:solidFill>
                  <a:srgbClr val="101824"/>
                </a:solidFill>
                <a:latin typeface="Consolas"/>
              </a:rPr>
              <a:t>    assets/           # PNGs, blueprints, sound, whatever</a:t>
            </a:r>
          </a:p>
          <a:p>
            <a:pPr algn="l"/>
            <a:r>
              <a:rPr sz="1600">
                <a:solidFill>
                  <a:srgbClr val="101824"/>
                </a:solidFill>
                <a:latin typeface="Consolas"/>
              </a:rPr>
              <a:t> </a:t>
            </a:r>
          </a:p>
          <a:p>
            <a:pPr algn="l"/>
            <a:r>
              <a:rPr sz="1600">
                <a:solidFill>
                  <a:srgbClr val="101824"/>
                </a:solidFill>
                <a:latin typeface="Consolas"/>
              </a:rPr>
              <a:t>// On launch, the game walks every Mods/* folder:</a:t>
            </a:r>
          </a:p>
          <a:p>
            <a:pPr algn="l"/>
            <a:r>
              <a:rPr sz="1600">
                <a:solidFill>
                  <a:srgbClr val="101824"/>
                </a:solidFill>
                <a:latin typeface="Consolas"/>
              </a:rPr>
              <a:t>var dlls = modDir.GetFiles("*.dll", SearchOption.AllDirectories);</a:t>
            </a:r>
          </a:p>
          <a:p>
            <a:pPr algn="l"/>
            <a:r>
              <a:rPr sz="1600">
                <a:solidFill>
                  <a:srgbClr val="101824"/>
                </a:solidFill>
                <a:latin typeface="Consolas"/>
              </a:rPr>
              <a:t>foreach (var dll in dlls) {</a:t>
            </a:r>
          </a:p>
          <a:p>
            <a:pPr algn="l"/>
            <a:r>
              <a:rPr sz="1600">
                <a:solidFill>
                  <a:srgbClr val="101824"/>
                </a:solidFill>
                <a:latin typeface="Consolas"/>
              </a:rPr>
              <a:t>    var asm = Assembly.LoadFile(dll.FullName);</a:t>
            </a:r>
          </a:p>
          <a:p>
            <a:pPr algn="l"/>
            <a:r>
              <a:rPr sz="1600">
                <a:solidFill>
                  <a:srgbClr val="101824"/>
                </a:solidFill>
                <a:latin typeface="Consolas"/>
              </a:rPr>
              <a:t>    foreach (var t in asm.GetTypes()) {</a:t>
            </a:r>
          </a:p>
          <a:p>
            <a:pPr algn="l"/>
            <a:r>
              <a:rPr sz="1600">
                <a:solidFill>
                  <a:srgbClr val="101824"/>
                </a:solidFill>
                <a:latin typeface="Consolas"/>
              </a:rPr>
              <a:t>        if (typeof(IModStarter).IsAssignableFrom(t)) {</a:t>
            </a:r>
          </a:p>
          <a:p>
            <a:pPr algn="l"/>
            <a:r>
              <a:rPr sz="1600">
                <a:solidFill>
                  <a:srgbClr val="101824"/>
                </a:solidFill>
                <a:latin typeface="Consolas"/>
              </a:rPr>
              <a:t>            ((IModStarter)Activator.CreateInstance(t)).StartMod(env);</a:t>
            </a:r>
          </a:p>
          <a:p>
            <a:pPr algn="l"/>
            <a:r>
              <a:rPr sz="1600">
                <a:solidFill>
                  <a:srgbClr val="101824"/>
                </a:solidFill>
                <a:latin typeface="Consolas"/>
              </a:rPr>
              <a:t>        }</a:t>
            </a:r>
          </a:p>
          <a:p>
            <a:pPr algn="l"/>
            <a:r>
              <a:rPr sz="1600">
                <a:solidFill>
                  <a:srgbClr val="101824"/>
                </a:solidFill>
                <a:latin typeface="Consolas"/>
              </a:rPr>
              <a:t>    }</a:t>
            </a:r>
          </a:p>
          <a:p>
            <a:pPr algn="l"/>
            <a:r>
              <a:rPr sz="1600">
                <a:solidFill>
                  <a:srgbClr val="101824"/>
                </a:solidFill>
                <a:latin typeface="Consolas"/>
              </a:rPr>
              <a:t>}</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Reflection-based discovery. RECURSIVE — bin/obj/Code.dll bites. (Gotcha #1.)</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What we're modding   ·   5 / 34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first question: where do I plug in?</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The kid wants more water flow. OK — how does flow work?</a:t>
            </a:r>
          </a:p>
          <a:p>
            <a:pPr algn="l">
              <a:spcAft>
                <a:spcPts val="800"/>
              </a:spcAft>
            </a:pPr>
            <a:r>
              <a:rPr sz="2200">
                <a:solidFill>
                  <a:srgbClr val="101824"/>
                </a:solidFill>
                <a:latin typeface="Calibri"/>
              </a:rPr>
              <a:t>•  Game ships compiled DLLs. No source.</a:t>
            </a:r>
          </a:p>
          <a:p>
            <a:pPr algn="l" lvl="1">
              <a:spcAft>
                <a:spcPts val="800"/>
              </a:spcAft>
            </a:pPr>
            <a:r>
              <a:rPr sz="1800">
                <a:solidFill>
                  <a:srgbClr val="556070"/>
                </a:solidFill>
                <a:latin typeface="Calibri"/>
              </a:rPr>
              <a:t>    –  ilspycmd → decompile the relevant assembly → read the C#</a:t>
            </a:r>
          </a:p>
          <a:p>
            <a:pPr algn="l" lvl="1">
              <a:spcAft>
                <a:spcPts val="800"/>
              </a:spcAft>
            </a:pPr>
            <a:r>
              <a:rPr sz="1800">
                <a:solidFill>
                  <a:srgbClr val="556070"/>
                </a:solidFill>
                <a:latin typeface="Calibri"/>
              </a:rPr>
              <a:t>    –  Look for: extensibility seams. Interfaces. DI bindings. Public methods.</a:t>
            </a:r>
          </a:p>
          <a:p>
            <a:pPr algn="l">
              <a:spcAft>
                <a:spcPts val="800"/>
              </a:spcAft>
            </a:pPr>
            <a:r>
              <a:rPr sz="2200">
                <a:solidFill>
                  <a:srgbClr val="101824"/>
                </a:solidFill>
                <a:latin typeface="Calibri"/>
              </a:rPr>
              <a:t>•  Strategy: clean seams first. Harmony patching only when no seam exists.</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The clean seam   ·   6 / 34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Decompiling the game with ilspycmd</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5120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 dotnet tool install -g ilspycmd</a:t>
            </a:r>
          </a:p>
          <a:p>
            <a:pPr algn="l"/>
            <a:r>
              <a:rPr sz="1600">
                <a:solidFill>
                  <a:srgbClr val="101824"/>
                </a:solidFill>
                <a:latin typeface="Consolas"/>
              </a:rPr>
              <a:t>$ ilspycmd -p -o ~/decomp/WaterSourceSystem \</a:t>
            </a:r>
          </a:p>
          <a:p>
            <a:pPr algn="l"/>
            <a:r>
              <a:rPr sz="1600">
                <a:solidFill>
                  <a:srgbClr val="101824"/>
                </a:solidFill>
                <a:latin typeface="Consolas"/>
              </a:rPr>
              <a:t>    "…/Timberborn_Data/Managed/Timberborn.WaterSourceSystem.dll"</a:t>
            </a:r>
          </a:p>
          <a:p>
            <a:pPr algn="l"/>
            <a:r>
              <a:rPr sz="1600">
                <a:solidFill>
                  <a:srgbClr val="101824"/>
                </a:solidFill>
                <a:latin typeface="Consolas"/>
              </a:rPr>
              <a:t> </a:t>
            </a:r>
          </a:p>
          <a:p>
            <a:pPr algn="l"/>
            <a:r>
              <a:rPr sz="1600">
                <a:solidFill>
                  <a:srgbClr val="101824"/>
                </a:solidFill>
                <a:latin typeface="Consolas"/>
              </a:rPr>
              <a:t>Result: a tree of .cs files. Readable. Greppable. Not source-of-truth</a:t>
            </a:r>
          </a:p>
          <a:p>
            <a:pPr algn="l"/>
            <a:r>
              <a:rPr sz="1600">
                <a:solidFill>
                  <a:srgbClr val="101824"/>
                </a:solidFill>
                <a:latin typeface="Consolas"/>
              </a:rPr>
              <a:t>(Timberborn ships obfuscation-free DLLs — IL → C# is near-perfect).</a:t>
            </a:r>
          </a:p>
          <a:p>
            <a:pPr algn="l"/>
            <a:r>
              <a:rPr sz="1600">
                <a:solidFill>
                  <a:srgbClr val="101824"/>
                </a:solidFill>
                <a:latin typeface="Consolas"/>
              </a:rPr>
              <a:t> </a:t>
            </a:r>
          </a:p>
          <a:p>
            <a:pPr algn="l"/>
            <a:r>
              <a:rPr sz="1600">
                <a:solidFill>
                  <a:srgbClr val="101824"/>
                </a:solidFill>
                <a:latin typeface="Consolas"/>
              </a:rPr>
              <a:t>$ grep -rn "IWaterStrengthModifier" decomp/WaterSourceSystem/</a:t>
            </a:r>
          </a:p>
          <a:p>
            <a:pPr algn="l"/>
            <a:r>
              <a:rPr sz="1600">
                <a:solidFill>
                  <a:srgbClr val="101824"/>
                </a:solidFill>
                <a:latin typeface="Consolas"/>
              </a:rPr>
              <a:t>decomp/.../IWaterStrengthModifier.cs:5:    public interface IWaterStrengthModifier</a:t>
            </a:r>
          </a:p>
          <a:p>
            <a:pPr algn="l"/>
            <a:r>
              <a:rPr sz="1600">
                <a:solidFill>
                  <a:srgbClr val="101824"/>
                </a:solidFill>
                <a:latin typeface="Consolas"/>
              </a:rPr>
              <a:t>decomp/.../WaterSource.cs:42:    private readonly List&lt;IWaterStrengthModifier&gt;</a:t>
            </a:r>
          </a:p>
          <a:p>
            <a:pPr algn="l"/>
            <a:r>
              <a:rPr sz="1600">
                <a:solidFill>
                  <a:srgbClr val="101824"/>
                </a:solidFill>
                <a:latin typeface="Consolas"/>
              </a:rPr>
              <a:t>decomp/.../WaterSource.cs:149:    foreach (IWaterStrengthModifier waterStrengthModifier</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The clean seam   ·   7 / 34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seam: IWaterStrengthModifier</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 Timberborn.WaterSourceSystem (vanilla, decompiled)</a:t>
            </a:r>
          </a:p>
          <a:p>
            <a:pPr algn="l"/>
            <a:r>
              <a:rPr sz="1600">
                <a:solidFill>
                  <a:srgbClr val="101824"/>
                </a:solidFill>
                <a:latin typeface="Consolas"/>
              </a:rPr>
              <a:t>public interface IWaterStrengthModifier {</a:t>
            </a:r>
          </a:p>
          <a:p>
            <a:pPr algn="l"/>
            <a:r>
              <a:rPr sz="1600">
                <a:solidFill>
                  <a:srgbClr val="101824"/>
                </a:solidFill>
                <a:latin typeface="Consolas"/>
              </a:rPr>
              <a:t>    float GetStrengthModifier();</a:t>
            </a:r>
          </a:p>
          <a:p>
            <a:pPr algn="l"/>
            <a:r>
              <a:rPr sz="1600">
                <a:solidFill>
                  <a:srgbClr val="101824"/>
                </a:solidFill>
                <a:latin typeface="Consolas"/>
              </a:rPr>
              <a:t>}</a:t>
            </a:r>
          </a:p>
          <a:p>
            <a:pPr algn="l"/>
            <a:r>
              <a:rPr sz="1600">
                <a:solidFill>
                  <a:srgbClr val="101824"/>
                </a:solidFill>
                <a:latin typeface="Consolas"/>
              </a:rPr>
              <a:t> </a:t>
            </a:r>
          </a:p>
          <a:p>
            <a:pPr algn="l"/>
            <a:r>
              <a:rPr sz="1600">
                <a:solidFill>
                  <a:srgbClr val="101824"/>
                </a:solidFill>
                <a:latin typeface="Consolas"/>
              </a:rPr>
              <a:t>// WaterSource ticks every game tick and composes ALL modifiers:</a:t>
            </a:r>
          </a:p>
          <a:p>
            <a:pPr algn="l"/>
            <a:r>
              <a:rPr sz="1600">
                <a:solidFill>
                  <a:srgbClr val="101824"/>
                </a:solidFill>
                <a:latin typeface="Consolas"/>
              </a:rPr>
              <a:t>private void UpdateCurrentStrength() {</a:t>
            </a:r>
          </a:p>
          <a:p>
            <a:pPr algn="l"/>
            <a:r>
              <a:rPr sz="1600">
                <a:solidFill>
                  <a:srgbClr val="101824"/>
                </a:solidFill>
                <a:latin typeface="Consolas"/>
              </a:rPr>
              <a:t>    float num = SpecifiedStrength;</a:t>
            </a:r>
          </a:p>
          <a:p>
            <a:pPr algn="l"/>
            <a:r>
              <a:rPr sz="1600">
                <a:solidFill>
                  <a:srgbClr val="101824"/>
                </a:solidFill>
                <a:latin typeface="Consolas"/>
              </a:rPr>
              <a:t>    foreach (IWaterStrengthModifier m in _waterStrengthModifiers) {</a:t>
            </a:r>
          </a:p>
          <a:p>
            <a:pPr algn="l"/>
            <a:r>
              <a:rPr sz="1600">
                <a:solidFill>
                  <a:srgbClr val="101824"/>
                </a:solidFill>
                <a:latin typeface="Consolas"/>
              </a:rPr>
              <a:t>        num *= m.GetStrengthModifier();   // multiplicative chain</a:t>
            </a:r>
          </a:p>
          <a:p>
            <a:pPr algn="l"/>
            <a:r>
              <a:rPr sz="1600">
                <a:solidFill>
                  <a:srgbClr val="101824"/>
                </a:solidFill>
                <a:latin typeface="Consolas"/>
              </a:rPr>
              <a:t>    }</a:t>
            </a:r>
          </a:p>
          <a:p>
            <a:pPr algn="l"/>
            <a:r>
              <a:rPr sz="1600">
                <a:solidFill>
                  <a:srgbClr val="101824"/>
                </a:solidFill>
                <a:latin typeface="Consolas"/>
              </a:rPr>
              <a:t>    SetCurrentStrength(num);</a:t>
            </a:r>
          </a:p>
          <a:p>
            <a:pPr algn="l"/>
            <a:r>
              <a:rPr sz="1600">
                <a:solidFill>
                  <a:srgbClr val="101824"/>
                </a:solidFill>
                <a:latin typeface="Consolas"/>
              </a:rPr>
              <a:t>}</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Drought ships its own IWaterStrengthModifier. We just register one more.</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The clean seam   ·   8 / 34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Our modifier — switches on the current cycle's weather</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5120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internal class FloodSeasonWaterStrengthModifier</a:t>
            </a:r>
          </a:p>
          <a:p>
            <a:pPr algn="l"/>
            <a:r>
              <a:rPr sz="1600">
                <a:solidFill>
                  <a:srgbClr val="101824"/>
                </a:solidFill>
                <a:latin typeface="Consolas"/>
              </a:rPr>
              <a:t>    : BaseComponent, IAwakableComponent, IInitializableEntity,</a:t>
            </a:r>
          </a:p>
          <a:p>
            <a:pPr algn="l"/>
            <a:r>
              <a:rPr sz="1600">
                <a:solidFill>
                  <a:srgbClr val="101824"/>
                </a:solidFill>
                <a:latin typeface="Consolas"/>
              </a:rPr>
              <a:t>      IWaterStrengthModifier {</a:t>
            </a:r>
          </a:p>
          <a:p>
            <a:pPr algn="l"/>
            <a:r>
              <a:rPr sz="1600">
                <a:solidFill>
                  <a:srgbClr val="101824"/>
                </a:solidFill>
                <a:latin typeface="Consolas"/>
              </a:rPr>
              <a:t> </a:t>
            </a:r>
          </a:p>
          <a:p>
            <a:pPr algn="l"/>
            <a:r>
              <a:rPr sz="1600">
                <a:solidFill>
                  <a:srgbClr val="101824"/>
                </a:solidFill>
                <a:latin typeface="Consolas"/>
              </a:rPr>
              <a:t>    public float GetStrengthModifier() {</a:t>
            </a:r>
          </a:p>
          <a:p>
            <a:pPr algn="l"/>
            <a:r>
              <a:rPr sz="1600">
                <a:solidFill>
                  <a:srgbClr val="101824"/>
                </a:solidFill>
                <a:latin typeface="Consolas"/>
              </a:rPr>
              <a:t>        if (!_weatherService.IsHazardousWeather) {</a:t>
            </a:r>
          </a:p>
          <a:p>
            <a:pPr algn="l"/>
            <a:r>
              <a:rPr sz="1600">
                <a:solidFill>
                  <a:srgbClr val="101824"/>
                </a:solidFill>
                <a:latin typeface="Consolas"/>
              </a:rPr>
              <a:t>            return _settings.TemperateMultiplier;   // wetter wet seasons</a:t>
            </a:r>
          </a:p>
          <a:p>
            <a:pPr algn="l"/>
            <a:r>
              <a:rPr sz="1600">
                <a:solidFill>
                  <a:srgbClr val="101824"/>
                </a:solidFill>
                <a:latin typeface="Consolas"/>
              </a:rPr>
              <a:t>        }</a:t>
            </a:r>
          </a:p>
          <a:p>
            <a:pPr algn="l"/>
            <a:r>
              <a:rPr sz="1600">
                <a:solidFill>
                  <a:srgbClr val="101824"/>
                </a:solidFill>
                <a:latin typeface="Consolas"/>
              </a:rPr>
              <a:t>        return _hazardousWeatherService.CurrentCycleHazardousWeather switch {</a:t>
            </a:r>
          </a:p>
          <a:p>
            <a:pPr algn="l"/>
            <a:r>
              <a:rPr sz="1600">
                <a:solidFill>
                  <a:srgbClr val="101824"/>
                </a:solidFill>
                <a:latin typeface="Consolas"/>
              </a:rPr>
              <a:t>            FloodWeather _     =&gt; _settings.FloodMultiplier,</a:t>
            </a:r>
          </a:p>
          <a:p>
            <a:pPr algn="l"/>
            <a:r>
              <a:rPr sz="1600">
                <a:solidFill>
                  <a:srgbClr val="101824"/>
                </a:solidFill>
                <a:latin typeface="Consolas"/>
              </a:rPr>
              <a:t>            MixedTideWeather _ =&gt; _settings.MixedTideMultiplier,</a:t>
            </a:r>
          </a:p>
          <a:p>
            <a:pPr algn="l"/>
            <a:r>
              <a:rPr sz="1600">
                <a:solidFill>
                  <a:srgbClr val="101824"/>
                </a:solidFill>
                <a:latin typeface="Consolas"/>
              </a:rPr>
              <a:t>            BadtideWeather _   =&gt; _settings.BadtideMultiplier,</a:t>
            </a:r>
          </a:p>
          <a:p>
            <a:pPr algn="l"/>
            <a:r>
              <a:rPr sz="1600">
                <a:solidFill>
                  <a:srgbClr val="101824"/>
                </a:solidFill>
                <a:latin typeface="Consolas"/>
              </a:rPr>
              <a:t>            _ =&gt; 1.0f,    // drought is owned by another patch</a:t>
            </a:r>
          </a:p>
          <a:p>
            <a:pPr algn="l"/>
            <a:r>
              <a:rPr sz="1600">
                <a:solidFill>
                  <a:srgbClr val="101824"/>
                </a:solidFill>
                <a:latin typeface="Consolas"/>
              </a:rPr>
              <a:t>        };</a:t>
            </a:r>
          </a:p>
          <a:p>
            <a:pPr algn="l"/>
            <a:r>
              <a:rPr sz="1600">
                <a:solidFill>
                  <a:srgbClr val="101824"/>
                </a:solidFill>
                <a:latin typeface="Consolas"/>
              </a:rPr>
              <a:t>    }</a:t>
            </a:r>
          </a:p>
          <a:p>
            <a:pPr algn="l"/>
            <a:r>
              <a:rPr sz="1600">
                <a:solidFill>
                  <a:srgbClr val="101824"/>
                </a:solidFill>
                <a:latin typeface="Consolas"/>
              </a:rPr>
              <a:t>}</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The clean seam   ·   9 / 34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Bindito DI — Timberborn's container</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[Context("Game")]                       // auto-discovered by Bindito</a:t>
            </a:r>
          </a:p>
          <a:p>
            <a:pPr algn="l"/>
            <a:r>
              <a:rPr sz="1600">
                <a:solidFill>
                  <a:srgbClr val="101824"/>
                </a:solidFill>
                <a:latin typeface="Consolas"/>
              </a:rPr>
              <a:t>internal class FloodSeasonConfigurator : Configurator {</a:t>
            </a:r>
          </a:p>
          <a:p>
            <a:pPr algn="l"/>
            <a:r>
              <a:rPr sz="1600">
                <a:solidFill>
                  <a:srgbClr val="101824"/>
                </a:solidFill>
                <a:latin typeface="Consolas"/>
              </a:rPr>
              <a:t>    protected override void Configure() {</a:t>
            </a:r>
          </a:p>
          <a:p>
            <a:pPr algn="l"/>
            <a:r>
              <a:rPr sz="1600">
                <a:solidFill>
                  <a:srgbClr val="101824"/>
                </a:solidFill>
                <a:latin typeface="Consolas"/>
              </a:rPr>
              <a:t>        Bind&lt;FloodSeasonSettings&gt;().AsSingleton();</a:t>
            </a:r>
          </a:p>
          <a:p>
            <a:pPr algn="l"/>
            <a:r>
              <a:rPr sz="1600">
                <a:solidFill>
                  <a:srgbClr val="101824"/>
                </a:solidFill>
                <a:latin typeface="Consolas"/>
              </a:rPr>
              <a:t>        Bind&lt;FloodWeather&gt;().AsSingleton();</a:t>
            </a:r>
          </a:p>
          <a:p>
            <a:pPr algn="l"/>
            <a:r>
              <a:rPr sz="1600">
                <a:solidFill>
                  <a:srgbClr val="101824"/>
                </a:solidFill>
                <a:latin typeface="Consolas"/>
              </a:rPr>
              <a:t>        Bind&lt;MixedTideWeather&gt;().AsSingleton();</a:t>
            </a:r>
          </a:p>
          <a:p>
            <a:pPr algn="l"/>
            <a:r>
              <a:rPr sz="1600">
                <a:solidFill>
                  <a:srgbClr val="101824"/>
                </a:solidFill>
                <a:latin typeface="Consolas"/>
              </a:rPr>
              <a:t>        Bind&lt;HazardousWeatherStatePersistence&gt;().AsSingleton();</a:t>
            </a:r>
          </a:p>
          <a:p>
            <a:pPr algn="l"/>
            <a:r>
              <a:rPr sz="1600">
                <a:solidFill>
                  <a:srgbClr val="101824"/>
                </a:solidFill>
                <a:latin typeface="Consolas"/>
              </a:rPr>
              <a:t>        Bind&lt;FloodSeasonWaterStrengthModifier&gt;().AsTransient();</a:t>
            </a:r>
          </a:p>
          <a:p>
            <a:pPr algn="l"/>
            <a:r>
              <a:rPr sz="1600">
                <a:solidFill>
                  <a:srgbClr val="101824"/>
                </a:solidFill>
                <a:latin typeface="Consolas"/>
              </a:rPr>
              <a:t>        Bind&lt;MixedTideContaminationController&gt;().AsTransient();</a:t>
            </a:r>
          </a:p>
          <a:p>
            <a:pPr algn="l"/>
            <a:r>
              <a:rPr sz="1600">
                <a:solidFill>
                  <a:srgbClr val="101824"/>
                </a:solidFill>
                <a:latin typeface="Consolas"/>
              </a:rPr>
              <a:t>        MultiBind&lt;TemplateModule&gt;()</a:t>
            </a:r>
          </a:p>
          <a:p>
            <a:pPr algn="l"/>
            <a:r>
              <a:rPr sz="1600">
                <a:solidFill>
                  <a:srgbClr val="101824"/>
                </a:solidFill>
                <a:latin typeface="Consolas"/>
              </a:rPr>
              <a:t>            .ToProvider(ProvideTemplateModule).AsSingleton();</a:t>
            </a:r>
          </a:p>
          <a:p>
            <a:pPr algn="l"/>
            <a:r>
              <a:rPr sz="1600">
                <a:solidFill>
                  <a:srgbClr val="101824"/>
                </a:solidFill>
                <a:latin typeface="Consolas"/>
              </a:rPr>
              <a:t>    }</a:t>
            </a:r>
          </a:p>
          <a:p>
            <a:pPr algn="l"/>
            <a:r>
              <a:rPr sz="1600">
                <a:solidFill>
                  <a:srgbClr val="101824"/>
                </a:solidFill>
                <a:latin typeface="Consolas"/>
              </a:rPr>
              <a:t>    // …</a:t>
            </a:r>
          </a:p>
          <a:p>
            <a:pPr algn="l"/>
            <a:r>
              <a:rPr sz="1600">
                <a:solidFill>
                  <a:srgbClr val="101824"/>
                </a:solidFill>
                <a:latin typeface="Consolas"/>
              </a:rPr>
              <a:t>}</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One class. Game discovers it via reflection on [Context], wires the rest.</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The clean seam   ·   10 / 34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TemplateModule — attach component to every entity of type X</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private static TemplateModule ProvideTemplateModule() {</a:t>
            </a:r>
          </a:p>
          <a:p>
            <a:pPr algn="l"/>
            <a:r>
              <a:rPr sz="1600">
                <a:solidFill>
                  <a:srgbClr val="101824"/>
                </a:solidFill>
                <a:latin typeface="Consolas"/>
              </a:rPr>
              <a:t>    var builder = new TemplateModule.Builder();</a:t>
            </a:r>
          </a:p>
          <a:p>
            <a:pPr algn="l"/>
            <a:r>
              <a:rPr sz="1600">
                <a:solidFill>
                  <a:srgbClr val="101824"/>
                </a:solidFill>
                <a:latin typeface="Consolas"/>
              </a:rPr>
              <a:t> </a:t>
            </a:r>
          </a:p>
          <a:p>
            <a:pPr algn="l"/>
            <a:r>
              <a:rPr sz="1600">
                <a:solidFill>
                  <a:srgbClr val="101824"/>
                </a:solidFill>
                <a:latin typeface="Consolas"/>
              </a:rPr>
              <a:t>    // 'For every WaterSource entity spawned, also attach</a:t>
            </a:r>
          </a:p>
          <a:p>
            <a:pPr algn="l"/>
            <a:r>
              <a:rPr sz="1600">
                <a:solidFill>
                  <a:srgbClr val="101824"/>
                </a:solidFill>
                <a:latin typeface="Consolas"/>
              </a:rPr>
              <a:t>    //  one of these components to it.'</a:t>
            </a:r>
          </a:p>
          <a:p>
            <a:pPr algn="l"/>
            <a:r>
              <a:rPr sz="1600">
                <a:solidFill>
                  <a:srgbClr val="101824"/>
                </a:solidFill>
                <a:latin typeface="Consolas"/>
              </a:rPr>
              <a:t>    builder.AddDecorator&lt;WaterSource, FloodSeasonWaterStrengthModifier&gt;();</a:t>
            </a:r>
          </a:p>
          <a:p>
            <a:pPr algn="l"/>
            <a:r>
              <a:rPr sz="1600">
                <a:solidFill>
                  <a:srgbClr val="101824"/>
                </a:solidFill>
                <a:latin typeface="Consolas"/>
              </a:rPr>
              <a:t>    builder.AddDecorator&lt;WaterSource, MixedTideContaminationController&gt;();</a:t>
            </a:r>
          </a:p>
          <a:p>
            <a:pPr algn="l"/>
            <a:r>
              <a:rPr sz="1600">
                <a:solidFill>
                  <a:srgbClr val="101824"/>
                </a:solidFill>
                <a:latin typeface="Consolas"/>
              </a:rPr>
              <a:t> </a:t>
            </a:r>
          </a:p>
          <a:p>
            <a:pPr algn="l"/>
            <a:r>
              <a:rPr sz="1600">
                <a:solidFill>
                  <a:srgbClr val="101824"/>
                </a:solidFill>
                <a:latin typeface="Consolas"/>
              </a:rPr>
              <a:t>    return builder.Build();</a:t>
            </a:r>
          </a:p>
          <a:p>
            <a:pPr algn="l"/>
            <a:r>
              <a:rPr sz="1600">
                <a:solidFill>
                  <a:srgbClr val="101824"/>
                </a:solidFill>
                <a:latin typeface="Consolas"/>
              </a:rPr>
              <a:t>}</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Decorator wiring is declarative. Mirrors how vanilla badtide attaches its controller.</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The clean seam   ·   11 / 34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Settings UI — eMka.ModSettings</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 Third-party mod that provides a settings UI in main-menu + in-game</a:t>
            </a:r>
          </a:p>
          <a:p>
            <a:pPr algn="l"/>
            <a:r>
              <a:rPr sz="1600">
                <a:solidFill>
                  <a:srgbClr val="101824"/>
                </a:solidFill>
                <a:latin typeface="Consolas"/>
              </a:rPr>
              <a:t>internal class FloodSeasonSettings : ModSettingsOwner {</a:t>
            </a:r>
          </a:p>
          <a:p>
            <a:pPr algn="l"/>
            <a:r>
              <a:rPr sz="1600">
                <a:solidFill>
                  <a:srgbClr val="101824"/>
                </a:solidFill>
                <a:latin typeface="Consolas"/>
              </a:rPr>
              <a:t> </a:t>
            </a:r>
          </a:p>
          <a:p>
            <a:pPr algn="l"/>
            <a:r>
              <a:rPr sz="1600">
                <a:solidFill>
                  <a:srgbClr val="101824"/>
                </a:solidFill>
                <a:latin typeface="Consolas"/>
              </a:rPr>
              <a:t>    public ModSetting&lt;int&gt; TemperateMultiplierPercent { get; }</a:t>
            </a:r>
          </a:p>
          <a:p>
            <a:pPr algn="l"/>
            <a:r>
              <a:rPr sz="1600">
                <a:solidFill>
                  <a:srgbClr val="101824"/>
                </a:solidFill>
                <a:latin typeface="Consolas"/>
              </a:rPr>
              <a:t>        = new ModSetting&lt;int&gt;(defaultValue: 200,</a:t>
            </a:r>
          </a:p>
          <a:p>
            <a:pPr algn="l"/>
            <a:r>
              <a:rPr sz="1600">
                <a:solidFill>
                  <a:srgbClr val="101824"/>
                </a:solidFill>
                <a:latin typeface="Consolas"/>
              </a:rPr>
              <a:t>            ModSettingDescriptor</a:t>
            </a:r>
          </a:p>
          <a:p>
            <a:pPr algn="l"/>
            <a:r>
              <a:rPr sz="1600">
                <a:solidFill>
                  <a:srgbClr val="101824"/>
                </a:solidFill>
                <a:latin typeface="Consolas"/>
              </a:rPr>
              <a:t>                .Create("Temperate flow multiplier (%)")</a:t>
            </a:r>
          </a:p>
          <a:p>
            <a:pPr algn="l"/>
            <a:r>
              <a:rPr sz="1600">
                <a:solidFill>
                  <a:srgbClr val="101824"/>
                </a:solidFill>
                <a:latin typeface="Consolas"/>
              </a:rPr>
              <a:t>                .SetTooltip("Water source flow during the Temperate phase. "</a:t>
            </a:r>
          </a:p>
          <a:p>
            <a:pPr algn="l"/>
            <a:r>
              <a:rPr sz="1600">
                <a:solidFill>
                  <a:srgbClr val="101824"/>
                </a:solidFill>
                <a:latin typeface="Consolas"/>
              </a:rPr>
              <a:t>                          + "200 = 2× normal."));</a:t>
            </a:r>
          </a:p>
          <a:p>
            <a:pPr algn="l"/>
            <a:r>
              <a:rPr sz="1600">
                <a:solidFill>
                  <a:srgbClr val="101824"/>
                </a:solidFill>
                <a:latin typeface="Consolas"/>
              </a:rPr>
              <a:t> </a:t>
            </a:r>
          </a:p>
          <a:p>
            <a:pPr algn="l"/>
            <a:r>
              <a:rPr sz="1600">
                <a:solidFill>
                  <a:srgbClr val="101824"/>
                </a:solidFill>
                <a:latin typeface="Consolas"/>
              </a:rPr>
              <a:t>    // 16 more settings in the real class.</a:t>
            </a:r>
          </a:p>
          <a:p>
            <a:pPr algn="l"/>
            <a:r>
              <a:rPr sz="1600">
                <a:solidFill>
                  <a:srgbClr val="101824"/>
                </a:solidFill>
                <a:latin typeface="Consolas"/>
              </a:rPr>
              <a:t>}</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Reflection over public ModSetting&lt;T&gt; properties → automatic UI controls.</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The clean seam   ·   12 / 34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2406E"/>
        </a:solidFill>
        <a:effectLst/>
      </p:bgPr>
    </p:bg>
    <p:spTree>
      <p:nvGrpSpPr>
        <p:cNvPr id="1" name=""/>
        <p:cNvGrpSpPr/>
        <p:nvPr/>
      </p:nvGrpSpPr>
      <p:grpSpPr/>
      <p:sp>
        <p:nvSpPr>
          <p:cNvPr id="2" name="TextBox 1"/>
          <p:cNvSpPr txBox="1"/>
          <p:nvPr/>
        </p:nvSpPr>
        <p:spPr>
          <a:xfrm>
            <a:off x="548640" y="457200"/>
            <a:ext cx="11094415" cy="914400"/>
          </a:xfrm>
          <a:prstGeom prst="rect">
            <a:avLst/>
          </a:prstGeom>
          <a:noFill/>
        </p:spPr>
        <p:txBody>
          <a:bodyPr wrap="square" anchor="ctr">
            <a:spAutoFit/>
          </a:bodyPr>
          <a:lstStyle/>
          <a:p>
            <a:pPr algn="l"/>
            <a:r>
              <a:rPr sz="1800" b="1">
                <a:solidFill>
                  <a:srgbClr val="AADCF0"/>
                </a:solidFill>
                <a:latin typeface="Calibri Light"/>
              </a:rPr>
              <a:t>LIVE DEMO</a:t>
            </a:r>
          </a:p>
        </p:txBody>
      </p:sp>
      <p:sp>
        <p:nvSpPr>
          <p:cNvPr id="3" name="TextBox 2"/>
          <p:cNvSpPr txBox="1"/>
          <p:nvPr/>
        </p:nvSpPr>
        <p:spPr>
          <a:xfrm>
            <a:off x="548640" y="1280160"/>
            <a:ext cx="11094415" cy="1097280"/>
          </a:xfrm>
          <a:prstGeom prst="rect">
            <a:avLst/>
          </a:prstGeom>
          <a:noFill/>
        </p:spPr>
        <p:txBody>
          <a:bodyPr wrap="square" anchor="ctr">
            <a:spAutoFit/>
          </a:bodyPr>
          <a:lstStyle/>
          <a:p>
            <a:pPr algn="l"/>
            <a:r>
              <a:rPr sz="4400" b="1">
                <a:solidFill>
                  <a:srgbClr val="F4F7FB"/>
                </a:solidFill>
                <a:latin typeface="Calibri Light"/>
              </a:rPr>
              <a:t>Demo 1 — change the temperate multiplier live</a:t>
            </a:r>
          </a:p>
        </p:txBody>
      </p:sp>
      <p:sp>
        <p:nvSpPr>
          <p:cNvPr id="4" name="TextBox 3"/>
          <p:cNvSpPr txBox="1"/>
          <p:nvPr/>
        </p:nvSpPr>
        <p:spPr>
          <a:xfrm>
            <a:off x="548640" y="2926080"/>
            <a:ext cx="11094415" cy="3200400"/>
          </a:xfrm>
          <a:prstGeom prst="rect">
            <a:avLst/>
          </a:prstGeom>
          <a:noFill/>
        </p:spPr>
        <p:txBody>
          <a:bodyPr wrap="square">
            <a:spAutoFit/>
          </a:bodyPr>
          <a:lstStyle/>
          <a:p>
            <a:pPr algn="l">
              <a:spcAft>
                <a:spcPts val="1000"/>
              </a:spcAft>
            </a:pPr>
            <a:r>
              <a:rPr sz="2000">
                <a:solidFill>
                  <a:srgbClr val="F4F7FB"/>
                </a:solidFill>
                <a:latin typeface="Calibri"/>
              </a:rPr>
              <a:t>1.  Open Mod Settings panel in-game.</a:t>
            </a:r>
          </a:p>
          <a:p>
            <a:pPr algn="l">
              <a:spcAft>
                <a:spcPts val="1000"/>
              </a:spcAft>
            </a:pPr>
            <a:r>
              <a:rPr sz="2000">
                <a:solidFill>
                  <a:srgbClr val="F4F7FB"/>
                </a:solidFill>
                <a:latin typeface="Calibri"/>
              </a:rPr>
              <a:t>2.  Set 'Temperate flow multiplier (%)' to 500.</a:t>
            </a:r>
          </a:p>
          <a:p>
            <a:pPr algn="l">
              <a:spcAft>
                <a:spcPts val="1000"/>
              </a:spcAft>
            </a:pPr>
            <a:r>
              <a:rPr sz="2000">
                <a:solidFill>
                  <a:srgbClr val="F4F7FB"/>
                </a:solidFill>
                <a:latin typeface="Calibri"/>
              </a:rPr>
              <a:t>3.  Close settings — point at water sources, flow jumps.</a:t>
            </a:r>
          </a:p>
          <a:p>
            <a:pPr algn="l">
              <a:spcAft>
                <a:spcPts val="1000"/>
              </a:spcAft>
            </a:pPr>
            <a:r>
              <a:rPr sz="2000">
                <a:solidFill>
                  <a:srgbClr val="F4F7FB"/>
                </a:solidFill>
                <a:latin typeface="Calibri"/>
              </a:rPr>
              <a:t>4.  Set it back to 200 (default) to keep things sane.</a:t>
            </a:r>
          </a:p>
          <a:p>
            <a:pPr algn="l">
              <a:spcAft>
                <a:spcPts val="1000"/>
              </a:spcAft>
            </a:pPr>
            <a:r>
              <a:rPr sz="2000">
                <a:solidFill>
                  <a:srgbClr val="F4F7FB"/>
                </a:solidFill>
                <a:latin typeface="Calibri"/>
              </a:rPr>
              <a:t>5.  Optional: speed-time to make the effect visible faster.</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The clean seam   ·   13 / 34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Feature request #2: replace the bad seasons</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TODO_SON_NAME: 'Make a flood happen instead of a drought sometimes.'</a:t>
            </a:r>
          </a:p>
          <a:p>
            <a:pPr algn="l">
              <a:spcAft>
                <a:spcPts val="800"/>
              </a:spcAft>
            </a:pPr>
            <a:r>
              <a:rPr sz="2200">
                <a:solidFill>
                  <a:srgbClr val="101824"/>
                </a:solidFill>
                <a:latin typeface="Calibri"/>
              </a:rPr>
              <a:t>•  Translation: introduce a NEW IHazardousWeather type alongside Drought + Badtide</a:t>
            </a:r>
          </a:p>
          <a:p>
            <a:pPr algn="l">
              <a:spcAft>
                <a:spcPts val="800"/>
              </a:spcAft>
            </a:pPr>
            <a:r>
              <a:rPr sz="2200">
                <a:solidFill>
                  <a:srgbClr val="101824"/>
                </a:solidFill>
                <a:latin typeface="Calibri"/>
              </a:rPr>
              <a:t>•  Look for a seam… and there isn't one</a:t>
            </a:r>
          </a:p>
          <a:p>
            <a:pPr algn="l" lvl="1">
              <a:spcAft>
                <a:spcPts val="800"/>
              </a:spcAft>
            </a:pPr>
            <a:r>
              <a:rPr sz="1800">
                <a:solidFill>
                  <a:srgbClr val="556070"/>
                </a:solidFill>
                <a:latin typeface="Calibri"/>
              </a:rPr>
              <a:t>    –  HazardousWeatherRandomizer is the chokepoint. Hardcoded.</a:t>
            </a:r>
          </a:p>
          <a:p>
            <a:pPr algn="l" lvl="1">
              <a:spcAft>
                <a:spcPts val="800"/>
              </a:spcAft>
            </a:pPr>
            <a:r>
              <a:rPr sz="1800">
                <a:solidFill>
                  <a:srgbClr val="556070"/>
                </a:solidFill>
                <a:latin typeface="Calibri"/>
              </a:rPr>
              <a:t>    –  No MultiBind&lt;IHazardousWeather&gt;. No registration call.</a:t>
            </a:r>
          </a:p>
          <a:p>
            <a:pPr algn="l" lvl="1">
              <a:spcAft>
                <a:spcPts val="800"/>
              </a:spcAft>
            </a:pPr>
            <a:r>
              <a:rPr sz="1800">
                <a:solidFill>
                  <a:srgbClr val="556070"/>
                </a:solidFill>
                <a:latin typeface="Calibri"/>
              </a:rPr>
              <a:t>    –  Welcome to Harmony.</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When the seam isn't there   ·   14 / 34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HazardousWeatherRandomizer — no seam to hook</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 Timberborn.HazardousWeatherSystem (vanilla, decompiled)</a:t>
            </a:r>
          </a:p>
          <a:p>
            <a:pPr algn="l"/>
            <a:r>
              <a:rPr sz="1600">
                <a:solidFill>
                  <a:srgbClr val="101824"/>
                </a:solidFill>
                <a:latin typeface="Consolas"/>
              </a:rPr>
              <a:t>public IHazardousWeather GetRandomWeatherForCycle(int cycle) {</a:t>
            </a:r>
          </a:p>
          <a:p>
            <a:pPr algn="l"/>
            <a:r>
              <a:rPr sz="1600">
                <a:solidFill>
                  <a:srgbClr val="101824"/>
                </a:solidFill>
                <a:latin typeface="Consolas"/>
              </a:rPr>
              <a:t>    if (ShouldBeBadtideWeather(cycle)) {</a:t>
            </a:r>
          </a:p>
          <a:p>
            <a:pPr algn="l"/>
            <a:r>
              <a:rPr sz="1600">
                <a:solidFill>
                  <a:srgbClr val="101824"/>
                </a:solidFill>
                <a:latin typeface="Consolas"/>
              </a:rPr>
              <a:t>        return _badtideWeather;</a:t>
            </a:r>
          </a:p>
          <a:p>
            <a:pPr algn="l"/>
            <a:r>
              <a:rPr sz="1600">
                <a:solidFill>
                  <a:srgbClr val="101824"/>
                </a:solidFill>
                <a:latin typeface="Consolas"/>
              </a:rPr>
              <a:t>    }</a:t>
            </a:r>
          </a:p>
          <a:p>
            <a:pPr algn="l"/>
            <a:r>
              <a:rPr sz="1600">
                <a:solidFill>
                  <a:srgbClr val="101824"/>
                </a:solidFill>
                <a:latin typeface="Consolas"/>
              </a:rPr>
              <a:t>    return _droughtWeather;</a:t>
            </a:r>
          </a:p>
          <a:p>
            <a:pPr algn="l"/>
            <a:r>
              <a:rPr sz="1600">
                <a:solidFill>
                  <a:srgbClr val="101824"/>
                </a:solidFill>
                <a:latin typeface="Consolas"/>
              </a:rPr>
              <a:t>}</a:t>
            </a:r>
          </a:p>
          <a:p>
            <a:pPr algn="l"/>
            <a:r>
              <a:rPr sz="1600">
                <a:solidFill>
                  <a:srgbClr val="101824"/>
                </a:solidFill>
                <a:latin typeface="Consolas"/>
              </a:rPr>
              <a:t> </a:t>
            </a:r>
          </a:p>
          <a:p>
            <a:pPr algn="l"/>
            <a:r>
              <a:rPr sz="1600">
                <a:solidFill>
                  <a:srgbClr val="101824"/>
                </a:solidFill>
                <a:latin typeface="Consolas"/>
              </a:rPr>
              <a:t>// That's it. No interface enumeration. No event hook.</a:t>
            </a:r>
          </a:p>
          <a:p>
            <a:pPr algn="l"/>
            <a:r>
              <a:rPr sz="1600">
                <a:solidFill>
                  <a:srgbClr val="101824"/>
                </a:solidFill>
                <a:latin typeface="Consolas"/>
              </a:rPr>
              <a:t>// Just an if/else with hardcoded private fields.</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The thing we want to extend is the most closed shape in the whole game.</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When the seam isn't there   ·   15 / 34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Harmony — the runtime patcher</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Library that rewrites method IL at load time. Originally for RimWorld mods.</a:t>
            </a:r>
          </a:p>
          <a:p>
            <a:pPr algn="l">
              <a:spcAft>
                <a:spcPts val="800"/>
              </a:spcAft>
            </a:pPr>
            <a:r>
              <a:rPr sz="2200">
                <a:solidFill>
                  <a:srgbClr val="101824"/>
                </a:solidFill>
                <a:latin typeface="Calibri"/>
              </a:rPr>
              <a:t>•  You don't ship modified game DLLs. You ship patch INSTRUCTIONS.</a:t>
            </a:r>
          </a:p>
          <a:p>
            <a:pPr algn="l">
              <a:spcAft>
                <a:spcPts val="800"/>
              </a:spcAft>
            </a:pPr>
            <a:r>
              <a:rPr sz="2200">
                <a:solidFill>
                  <a:srgbClr val="101824"/>
                </a:solidFill>
                <a:latin typeface="Calibri"/>
              </a:rPr>
              <a:t>•  Three patch positions:</a:t>
            </a:r>
          </a:p>
          <a:p>
            <a:pPr algn="l" lvl="1">
              <a:spcAft>
                <a:spcPts val="800"/>
              </a:spcAft>
            </a:pPr>
            <a:r>
              <a:rPr sz="1800">
                <a:solidFill>
                  <a:srgbClr val="556070"/>
                </a:solidFill>
                <a:latin typeface="Calibri"/>
              </a:rPr>
              <a:t>    –  PREFIX — runs before the original. Can read args. Can return false to SKIP original.</a:t>
            </a:r>
          </a:p>
          <a:p>
            <a:pPr algn="l" lvl="1">
              <a:spcAft>
                <a:spcPts val="800"/>
              </a:spcAft>
            </a:pPr>
            <a:r>
              <a:rPr sz="1800">
                <a:solidFill>
                  <a:srgbClr val="556070"/>
                </a:solidFill>
                <a:latin typeface="Calibri"/>
              </a:rPr>
              <a:t>    –  POSTFIX — runs after. Can read AND modify the original's return value.</a:t>
            </a:r>
          </a:p>
          <a:p>
            <a:pPr algn="l" lvl="1">
              <a:spcAft>
                <a:spcPts val="800"/>
              </a:spcAft>
            </a:pPr>
            <a:r>
              <a:rPr sz="1800">
                <a:solidFill>
                  <a:srgbClr val="556070"/>
                </a:solidFill>
                <a:latin typeface="Calibri"/>
              </a:rPr>
              <a:t>    –  TRANSPILER — rewrites the IL of the original itself. (We didn't need this.)</a:t>
            </a:r>
          </a:p>
          <a:p>
            <a:pPr algn="l">
              <a:spcAft>
                <a:spcPts val="800"/>
              </a:spcAft>
            </a:pPr>
            <a:r>
              <a:rPr sz="2200">
                <a:solidFill>
                  <a:srgbClr val="101824"/>
                </a:solidFill>
                <a:latin typeface="Calibri"/>
              </a:rPr>
              <a:t>•  Patches discovered by [HarmonyPatch] attribute + a single PatchAll() call at startup.</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When the seam isn't there   ·   16 / 34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hijack — four lines of Harmony postfix</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[HarmonyPatch(typeof(HazardousWeatherRandomizer),</a:t>
            </a:r>
          </a:p>
          <a:p>
            <a:pPr algn="l"/>
            <a:r>
              <a:rPr sz="1600">
                <a:solidFill>
                  <a:srgbClr val="101824"/>
                </a:solidFill>
                <a:latin typeface="Consolas"/>
              </a:rPr>
              <a:t>              nameof(HazardousWeatherRandomizer.GetRandomWeatherForCycle))]</a:t>
            </a:r>
          </a:p>
          <a:p>
            <a:pPr algn="l"/>
            <a:r>
              <a:rPr sz="1600">
                <a:solidFill>
                  <a:srgbClr val="101824"/>
                </a:solidFill>
                <a:latin typeface="Consolas"/>
              </a:rPr>
              <a:t>internal static class RandomizerPatch {</a:t>
            </a:r>
          </a:p>
          <a:p>
            <a:pPr algn="l"/>
            <a:r>
              <a:rPr sz="1600">
                <a:solidFill>
                  <a:srgbClr val="101824"/>
                </a:solidFill>
                <a:latin typeface="Consolas"/>
              </a:rPr>
              <a:t> </a:t>
            </a:r>
          </a:p>
          <a:p>
            <a:pPr algn="l"/>
            <a:r>
              <a:rPr sz="1600">
                <a:solidFill>
                  <a:srgbClr val="101824"/>
                </a:solidFill>
                <a:latin typeface="Consolas"/>
              </a:rPr>
              <a:t>    [HarmonyPostfix]</a:t>
            </a:r>
          </a:p>
          <a:p>
            <a:pPr algn="l"/>
            <a:r>
              <a:rPr sz="1600">
                <a:solidFill>
                  <a:srgbClr val="101824"/>
                </a:solidFill>
                <a:latin typeface="Consolas"/>
              </a:rPr>
              <a:t>    public static void Postfix(int cycle, ref IHazardousWeather __result) {</a:t>
            </a:r>
          </a:p>
          <a:p>
            <a:pPr algn="l"/>
            <a:r>
              <a:rPr sz="1600">
                <a:solidFill>
                  <a:srgbClr val="101824"/>
                </a:solidFill>
                <a:latin typeface="Consolas"/>
              </a:rPr>
              <a:t>        // … gates omitted (probability, grace cycles, weighted roll) …</a:t>
            </a:r>
          </a:p>
          <a:p>
            <a:pPr algn="l"/>
            <a:r>
              <a:rPr sz="1600">
                <a:solidFill>
                  <a:srgbClr val="101824"/>
                </a:solidFill>
                <a:latin typeface="Consolas"/>
              </a:rPr>
              <a:t>        if (RollSaysFlood()) {</a:t>
            </a:r>
          </a:p>
          <a:p>
            <a:pPr algn="l"/>
            <a:r>
              <a:rPr sz="1600">
                <a:solidFill>
                  <a:srgbClr val="101824"/>
                </a:solidFill>
                <a:latin typeface="Consolas"/>
              </a:rPr>
              <a:t>            __result = FloodWeather.Instance;</a:t>
            </a:r>
          </a:p>
          <a:p>
            <a:pPr algn="l"/>
            <a:r>
              <a:rPr sz="1600">
                <a:solidFill>
                  <a:srgbClr val="101824"/>
                </a:solidFill>
                <a:latin typeface="Consolas"/>
              </a:rPr>
              <a:t>        } else if (RollSaysMixedTide()) {</a:t>
            </a:r>
          </a:p>
          <a:p>
            <a:pPr algn="l"/>
            <a:r>
              <a:rPr sz="1600">
                <a:solidFill>
                  <a:srgbClr val="101824"/>
                </a:solidFill>
                <a:latin typeface="Consolas"/>
              </a:rPr>
              <a:t>            __result = MixedTideWeather.Instance;</a:t>
            </a:r>
          </a:p>
          <a:p>
            <a:pPr algn="l"/>
            <a:r>
              <a:rPr sz="1600">
                <a:solidFill>
                  <a:srgbClr val="101824"/>
                </a:solidFill>
                <a:latin typeface="Consolas"/>
              </a:rPr>
              <a:t>        }</a:t>
            </a:r>
          </a:p>
          <a:p>
            <a:pPr algn="l"/>
            <a:r>
              <a:rPr sz="1600">
                <a:solidFill>
                  <a:srgbClr val="101824"/>
                </a:solidFill>
                <a:latin typeface="Consolas"/>
              </a:rPr>
              <a:t>    }</a:t>
            </a:r>
          </a:p>
          <a:p>
            <a:pPr algn="l"/>
            <a:r>
              <a:rPr sz="1600">
                <a:solidFill>
                  <a:srgbClr val="101824"/>
                </a:solidFill>
                <a:latin typeface="Consolas"/>
              </a:rPr>
              <a:t>}</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Vanilla picks drought / badtide. We OVERWRITE the result. Done.</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When the seam isn't there   ·   17 / 34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2406E"/>
        </a:solidFill>
        <a:effectLst/>
      </p:bgPr>
    </p:bg>
    <p:spTree>
      <p:nvGrpSpPr>
        <p:cNvPr id="1" name=""/>
        <p:cNvGrpSpPr/>
        <p:nvPr/>
      </p:nvGrpSpPr>
      <p:grpSpPr/>
      <p:sp>
        <p:nvSpPr>
          <p:cNvPr id="2" name="TextBox 1"/>
          <p:cNvSpPr txBox="1"/>
          <p:nvPr/>
        </p:nvSpPr>
        <p:spPr>
          <a:xfrm>
            <a:off x="548640" y="457200"/>
            <a:ext cx="11094415" cy="914400"/>
          </a:xfrm>
          <a:prstGeom prst="rect">
            <a:avLst/>
          </a:prstGeom>
          <a:noFill/>
        </p:spPr>
        <p:txBody>
          <a:bodyPr wrap="square" anchor="ctr">
            <a:spAutoFit/>
          </a:bodyPr>
          <a:lstStyle/>
          <a:p>
            <a:pPr algn="l"/>
            <a:r>
              <a:rPr sz="1800" b="1">
                <a:solidFill>
                  <a:srgbClr val="AADCF0"/>
                </a:solidFill>
                <a:latin typeface="Calibri Light"/>
              </a:rPr>
              <a:t>LIVE DEMO</a:t>
            </a:r>
          </a:p>
        </p:txBody>
      </p:sp>
      <p:sp>
        <p:nvSpPr>
          <p:cNvPr id="3" name="TextBox 2"/>
          <p:cNvSpPr txBox="1"/>
          <p:nvPr/>
        </p:nvSpPr>
        <p:spPr>
          <a:xfrm>
            <a:off x="548640" y="1280160"/>
            <a:ext cx="11094415" cy="1097280"/>
          </a:xfrm>
          <a:prstGeom prst="rect">
            <a:avLst/>
          </a:prstGeom>
          <a:noFill/>
        </p:spPr>
        <p:txBody>
          <a:bodyPr wrap="square" anchor="ctr">
            <a:spAutoFit/>
          </a:bodyPr>
          <a:lstStyle/>
          <a:p>
            <a:pPr algn="l"/>
            <a:r>
              <a:rPr sz="4400" b="1">
                <a:solidFill>
                  <a:srgbClr val="F4F7FB"/>
                </a:solidFill>
                <a:latin typeface="Calibri Light"/>
              </a:rPr>
              <a:t>Demo 2 — every hazard is a flood</a:t>
            </a:r>
          </a:p>
        </p:txBody>
      </p:sp>
      <p:sp>
        <p:nvSpPr>
          <p:cNvPr id="4" name="TextBox 3"/>
          <p:cNvSpPr txBox="1"/>
          <p:nvPr/>
        </p:nvSpPr>
        <p:spPr>
          <a:xfrm>
            <a:off x="548640" y="2926080"/>
            <a:ext cx="11094415" cy="3200400"/>
          </a:xfrm>
          <a:prstGeom prst="rect">
            <a:avLst/>
          </a:prstGeom>
          <a:noFill/>
        </p:spPr>
        <p:txBody>
          <a:bodyPr wrap="square">
            <a:spAutoFit/>
          </a:bodyPr>
          <a:lstStyle/>
          <a:p>
            <a:pPr algn="l">
              <a:spcAft>
                <a:spcPts val="1000"/>
              </a:spcAft>
            </a:pPr>
            <a:r>
              <a:rPr sz="2000">
                <a:solidFill>
                  <a:srgbClr val="F4F7FB"/>
                </a:solidFill>
                <a:latin typeface="Calibri"/>
              </a:rPr>
              <a:t>1.  Open Mod Settings, enable Flood Season, set probability to 100%.</a:t>
            </a:r>
          </a:p>
          <a:p>
            <a:pPr algn="l">
              <a:spcAft>
                <a:spcPts val="1000"/>
              </a:spcAft>
            </a:pPr>
            <a:r>
              <a:rPr sz="2000">
                <a:solidFill>
                  <a:srgbClr val="F4F7FB"/>
                </a:solidFill>
                <a:latin typeface="Calibri"/>
              </a:rPr>
              <a:t>2.  Set grace cycles to 0 (so the first hazard fires immediately).</a:t>
            </a:r>
          </a:p>
          <a:p>
            <a:pPr algn="l">
              <a:spcAft>
                <a:spcPts val="1000"/>
              </a:spcAft>
            </a:pPr>
            <a:r>
              <a:rPr sz="2000">
                <a:solidFill>
                  <a:srgbClr val="F4F7FB"/>
                </a:solidFill>
                <a:latin typeface="Calibri"/>
              </a:rPr>
              <a:t>3.  Start a NEW game (cycle weather is decided AT CYCLE START — gotcha #6).</a:t>
            </a:r>
          </a:p>
          <a:p>
            <a:pPr algn="l">
              <a:spcAft>
                <a:spcPts val="1000"/>
              </a:spcAft>
            </a:pPr>
            <a:r>
              <a:rPr sz="2000">
                <a:solidFill>
                  <a:srgbClr val="F4F7FB"/>
                </a:solidFill>
                <a:latin typeface="Calibri"/>
              </a:rPr>
              <a:t>4.  Fast-forward to the first hazardous cycle.</a:t>
            </a:r>
          </a:p>
          <a:p>
            <a:pPr algn="l">
              <a:spcAft>
                <a:spcPts val="1000"/>
              </a:spcAft>
            </a:pPr>
            <a:r>
              <a:rPr sz="2000">
                <a:solidFill>
                  <a:srgbClr val="F4F7FB"/>
                </a:solidFill>
                <a:latin typeface="Calibri"/>
              </a:rPr>
              <a:t>5.  Point at the panel: 'A flood has begun!' (instead of the usual drought/badtide).</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When the seam isn't there   ·   18 / 34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And then everything else breaks</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We introduced a NEW IHazardousWeather type. Vanilla code didn't expect this.</a:t>
            </a:r>
          </a:p>
          <a:p>
            <a:pPr algn="l">
              <a:spcAft>
                <a:spcPts val="800"/>
              </a:spcAft>
            </a:pPr>
            <a:r>
              <a:rPr sz="2200">
                <a:solidFill>
                  <a:srgbClr val="101824"/>
                </a:solidFill>
                <a:latin typeface="Calibri"/>
              </a:rPr>
              <a:t>•  Every place in the game that does 'is DroughtWeather else is BadtideWeather else throw' fires.</a:t>
            </a:r>
          </a:p>
          <a:p>
            <a:pPr algn="l">
              <a:spcAft>
                <a:spcPts val="800"/>
              </a:spcAft>
            </a:pPr>
            <a:r>
              <a:rPr sz="2200">
                <a:solidFill>
                  <a:srgbClr val="101824"/>
                </a:solidFill>
                <a:latin typeface="Calibri"/>
              </a:rPr>
              <a:t>•  Every place keyed off the weather's string Id misses the lookup.</a:t>
            </a:r>
          </a:p>
          <a:p>
            <a:pPr algn="l">
              <a:spcAft>
                <a:spcPts val="800"/>
              </a:spcAft>
            </a:pPr>
            <a:r>
              <a:rPr sz="2200">
                <a:solidFill>
                  <a:srgbClr val="101824"/>
                </a:solidFill>
                <a:latin typeface="Calibri"/>
              </a:rPr>
              <a:t>•  Every UI element CSS-bound to drought/badtide classes shows the wrong art.</a:t>
            </a:r>
          </a:p>
          <a:p>
            <a:pPr algn="l">
              <a:spcAft>
                <a:spcPts val="800"/>
              </a:spcAft>
            </a:pPr>
            <a:r>
              <a:rPr sz="2200">
                <a:solidFill>
                  <a:srgbClr val="101824"/>
                </a:solidFill>
                <a:latin typeface="Calibri"/>
              </a:rPr>
              <a:t>•  Each of these is a separate patch. We discovered them by crashing.</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The cascade   ·   19 / 34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first throw: HazardousWeatherUIHelper</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 Vanilla — Timberborn.HazardousWeatherSystemUI (decompiled)</a:t>
            </a:r>
          </a:p>
          <a:p>
            <a:pPr algn="l"/>
            <a:r>
              <a:rPr sz="1600">
                <a:solidFill>
                  <a:srgbClr val="101824"/>
                </a:solidFill>
                <a:latin typeface="Consolas"/>
              </a:rPr>
              <a:t>private void UpdateCurrentUISpecification() {</a:t>
            </a:r>
          </a:p>
          <a:p>
            <a:pPr algn="l"/>
            <a:r>
              <a:rPr sz="1600">
                <a:solidFill>
                  <a:srgbClr val="101824"/>
                </a:solidFill>
                <a:latin typeface="Consolas"/>
              </a:rPr>
              <a:t>    var current = _hazardousWeatherService.CurrentCycleHazardousWeather;</a:t>
            </a:r>
          </a:p>
          <a:p>
            <a:pPr algn="l"/>
            <a:r>
              <a:rPr sz="1600">
                <a:solidFill>
                  <a:srgbClr val="101824"/>
                </a:solidFill>
                <a:latin typeface="Consolas"/>
              </a:rPr>
              <a:t>    if (!(current is DroughtWeather)) {</a:t>
            </a:r>
          </a:p>
          <a:p>
            <a:pPr algn="l"/>
            <a:r>
              <a:rPr sz="1600">
                <a:solidFill>
                  <a:srgbClr val="101824"/>
                </a:solidFill>
                <a:latin typeface="Consolas"/>
              </a:rPr>
              <a:t>        if (!(current is BadtideWeather)) {</a:t>
            </a:r>
          </a:p>
          <a:p>
            <a:pPr algn="l"/>
            <a:r>
              <a:rPr sz="1600">
                <a:solidFill>
                  <a:srgbClr val="101824"/>
                </a:solidFill>
                <a:latin typeface="Consolas"/>
              </a:rPr>
              <a:t>            throw new InvalidOperationException(</a:t>
            </a:r>
          </a:p>
          <a:p>
            <a:pPr algn="l"/>
            <a:r>
              <a:rPr sz="1600">
                <a:solidFill>
                  <a:srgbClr val="101824"/>
                </a:solidFill>
                <a:latin typeface="Consolas"/>
              </a:rPr>
              <a:t>                "No UI for weather: " + current);</a:t>
            </a:r>
          </a:p>
          <a:p>
            <a:pPr algn="l"/>
            <a:r>
              <a:rPr sz="1600">
                <a:solidFill>
                  <a:srgbClr val="101824"/>
                </a:solidFill>
                <a:latin typeface="Consolas"/>
              </a:rPr>
              <a:t>        }</a:t>
            </a:r>
          </a:p>
          <a:p>
            <a:pPr algn="l"/>
            <a:r>
              <a:rPr sz="1600">
                <a:solidFill>
                  <a:srgbClr val="101824"/>
                </a:solidFill>
                <a:latin typeface="Consolas"/>
              </a:rPr>
              <a:t>        _currentUISpecification = _badtideWeatherUISpecification;</a:t>
            </a:r>
          </a:p>
          <a:p>
            <a:pPr algn="l"/>
            <a:r>
              <a:rPr sz="1600">
                <a:solidFill>
                  <a:srgbClr val="101824"/>
                </a:solidFill>
                <a:latin typeface="Consolas"/>
              </a:rPr>
              <a:t>    }</a:t>
            </a:r>
          </a:p>
          <a:p>
            <a:pPr algn="l"/>
            <a:r>
              <a:rPr sz="1600">
                <a:solidFill>
                  <a:srgbClr val="101824"/>
                </a:solidFill>
                <a:latin typeface="Consolas"/>
              </a:rPr>
              <a:t>    else {</a:t>
            </a:r>
          </a:p>
          <a:p>
            <a:pPr algn="l"/>
            <a:r>
              <a:rPr sz="1600">
                <a:solidFill>
                  <a:srgbClr val="101824"/>
                </a:solidFill>
                <a:latin typeface="Consolas"/>
              </a:rPr>
              <a:t>        _currentUISpecification = _droughtWeatherUISpecification;</a:t>
            </a:r>
          </a:p>
          <a:p>
            <a:pPr algn="l"/>
            <a:r>
              <a:rPr sz="1600">
                <a:solidFill>
                  <a:srgbClr val="101824"/>
                </a:solidFill>
                <a:latin typeface="Consolas"/>
              </a:rPr>
              <a:t>    }</a:t>
            </a:r>
          </a:p>
          <a:p>
            <a:pPr algn="l"/>
            <a:r>
              <a:rPr sz="1600">
                <a:solidFill>
                  <a:srgbClr val="101824"/>
                </a:solidFill>
                <a:latin typeface="Consolas"/>
              </a:rPr>
              <a:t>}</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Our flood is neither. So this throws on the first hazardous cycle.</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The cascade   ·   20 / 34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Id-spoof trick — return the wrong string on purpose</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400">
                <a:solidFill>
                  <a:srgbClr val="101824"/>
                </a:solidFill>
                <a:latin typeface="Consolas"/>
              </a:rPr>
              <a:t>internal class FloodWeather : IHazardousWeather, ILoadableSingleton {</a:t>
            </a:r>
          </a:p>
          <a:p>
            <a:pPr algn="l"/>
            <a:r>
              <a:rPr sz="1400">
                <a:solidFill>
                  <a:srgbClr val="101824"/>
                </a:solidFill>
                <a:latin typeface="Consolas"/>
              </a:rPr>
              <a:t> </a:t>
            </a:r>
          </a:p>
          <a:p>
            <a:pPr algn="l"/>
            <a:r>
              <a:rPr sz="1400">
                <a:solidFill>
                  <a:srgbClr val="101824"/>
                </a:solidFill>
                <a:latin typeface="Consolas"/>
              </a:rPr>
              <a:t>    public string Id =&gt; "DroughtWeather";  // ← deliberate</a:t>
            </a:r>
          </a:p>
          <a:p>
            <a:pPr algn="l"/>
            <a:r>
              <a:rPr sz="1400">
                <a:solidFill>
                  <a:srgbClr val="101824"/>
                </a:solidFill>
                <a:latin typeface="Consolas"/>
              </a:rPr>
              <a:t> </a:t>
            </a:r>
          </a:p>
          <a:p>
            <a:pPr algn="l"/>
            <a:r>
              <a:rPr sz="1400">
                <a:solidFill>
                  <a:srgbClr val="101824"/>
                </a:solidFill>
                <a:latin typeface="Consolas"/>
              </a:rPr>
              <a:t>    // Vanilla code does:</a:t>
            </a:r>
          </a:p>
          <a:p>
            <a:pPr algn="l"/>
            <a:r>
              <a:rPr sz="1400">
                <a:solidFill>
                  <a:srgbClr val="101824"/>
                </a:solidFill>
                <a:latin typeface="Consolas"/>
              </a:rPr>
              <a:t>    //   var fog = Sun.GetFogSettings(currentWeather.Id);</a:t>
            </a:r>
          </a:p>
          <a:p>
            <a:pPr algn="l"/>
            <a:r>
              <a:rPr sz="1400">
                <a:solidFill>
                  <a:srgbClr val="101824"/>
                </a:solidFill>
                <a:latin typeface="Consolas"/>
              </a:rPr>
              <a:t>    //   var count = HazardousWeatherHistory.GetCyclesCount(id);</a:t>
            </a:r>
          </a:p>
          <a:p>
            <a:pPr algn="l"/>
            <a:r>
              <a:rPr sz="1400">
                <a:solidFill>
                  <a:srgbClr val="101824"/>
                </a:solidFill>
                <a:latin typeface="Consolas"/>
              </a:rPr>
              <a:t>    // Both are string-keyed dictionary lookups. Vanilla ships data only</a:t>
            </a:r>
          </a:p>
          <a:p>
            <a:pPr algn="l"/>
            <a:r>
              <a:rPr sz="1400">
                <a:solidFill>
                  <a:srgbClr val="101824"/>
                </a:solidFill>
                <a:latin typeface="Consolas"/>
              </a:rPr>
              <a:t>    // for "DroughtWeather" and "BadtideWeather". Returning our own</a:t>
            </a:r>
          </a:p>
          <a:p>
            <a:pPr algn="l"/>
            <a:r>
              <a:rPr sz="1400">
                <a:solidFill>
                  <a:srgbClr val="101824"/>
                </a:solidFill>
                <a:latin typeface="Consolas"/>
              </a:rPr>
              <a:t>    // id-string "FloodWeather" → KeyNotFoundException.</a:t>
            </a:r>
          </a:p>
          <a:p>
            <a:pPr algn="l"/>
            <a:r>
              <a:rPr sz="1400">
                <a:solidFill>
                  <a:srgbClr val="101824"/>
                </a:solidFill>
                <a:latin typeface="Consolas"/>
              </a:rPr>
              <a:t>    //</a:t>
            </a:r>
          </a:p>
          <a:p>
            <a:pPr algn="l"/>
            <a:r>
              <a:rPr sz="1400">
                <a:solidFill>
                  <a:srgbClr val="101824"/>
                </a:solidFill>
                <a:latin typeface="Consolas"/>
              </a:rPr>
              <a:t>    // Returning "DroughtWeather" → the lookup hits the drought entry.</a:t>
            </a:r>
          </a:p>
          <a:p>
            <a:pPr algn="l"/>
            <a:r>
              <a:rPr sz="1400">
                <a:solidFill>
                  <a:srgbClr val="101824"/>
                </a:solidFill>
                <a:latin typeface="Consolas"/>
              </a:rPr>
              <a:t>    // Fog system thinks we're a drought. History counts us as a drought.</a:t>
            </a:r>
          </a:p>
          <a:p>
            <a:pPr algn="l"/>
            <a:r>
              <a:rPr sz="1400">
                <a:solidFill>
                  <a:srgbClr val="101824"/>
                </a:solidFill>
                <a:latin typeface="Consolas"/>
              </a:rPr>
              <a:t>    //</a:t>
            </a:r>
          </a:p>
          <a:p>
            <a:pPr algn="l"/>
            <a:r>
              <a:rPr sz="1400">
                <a:solidFill>
                  <a:srgbClr val="101824"/>
                </a:solidFill>
                <a:latin typeface="Consolas"/>
              </a:rPr>
              <a:t>    // Type-based dispatch (`is FloodWeather`) STILL works — that uses</a:t>
            </a:r>
          </a:p>
          <a:p>
            <a:pPr algn="l"/>
            <a:r>
              <a:rPr sz="1400">
                <a:solidFill>
                  <a:srgbClr val="101824"/>
                </a:solidFill>
                <a:latin typeface="Consolas"/>
              </a:rPr>
              <a:t>    // C# type identity, not the string. So our own modifier still</a:t>
            </a:r>
          </a:p>
          <a:p>
            <a:pPr algn="l"/>
            <a:r>
              <a:rPr sz="1400">
                <a:solidFill>
                  <a:srgbClr val="101824"/>
                </a:solidFill>
                <a:latin typeface="Consolas"/>
              </a:rPr>
              <a:t>    // distinguishes us from real drought.</a:t>
            </a:r>
          </a:p>
          <a:p>
            <a:pPr algn="l"/>
            <a:r>
              <a:rPr sz="1400">
                <a:solidFill>
                  <a:srgbClr val="101824"/>
                </a:solidFill>
                <a:latin typeface="Consolas"/>
              </a:rPr>
              <a:t>    // …</a:t>
            </a:r>
          </a:p>
          <a:p>
            <a:pPr algn="l"/>
            <a:r>
              <a:rPr sz="1400">
                <a:solidFill>
                  <a:srgbClr val="101824"/>
                </a:solidFill>
                <a:latin typeface="Consolas"/>
              </a:rPr>
              <a:t>}</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Spoof the id where vanilla uses strings. Keep the type where vanilla uses types.</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The cascade   ·   21 / 34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Harmony quirk: FOUR underscores to read a private field</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 Vanilla field on HazardousWeatherUIHelper:</a:t>
            </a:r>
          </a:p>
          <a:p>
            <a:pPr algn="l"/>
            <a:r>
              <a:rPr sz="1600">
                <a:solidFill>
                  <a:srgbClr val="101824"/>
                </a:solidFill>
                <a:latin typeface="Consolas"/>
              </a:rPr>
              <a:t>private readonly HazardousWeatherService _hazardousWeatherService;</a:t>
            </a:r>
          </a:p>
          <a:p>
            <a:pPr algn="l"/>
            <a:r>
              <a:rPr sz="1600">
                <a:solidFill>
                  <a:srgbClr val="101824"/>
                </a:solidFill>
                <a:latin typeface="Consolas"/>
              </a:rPr>
              <a:t> </a:t>
            </a:r>
          </a:p>
          <a:p>
            <a:pPr algn="l"/>
            <a:r>
              <a:rPr sz="1600">
                <a:solidFill>
                  <a:srgbClr val="101824"/>
                </a:solidFill>
                <a:latin typeface="Consolas"/>
              </a:rPr>
              <a:t>// Our patch wants to READ that field. Harmony convention:</a:t>
            </a:r>
          </a:p>
          <a:p>
            <a:pPr algn="l"/>
            <a:r>
              <a:rPr sz="1600">
                <a:solidFill>
                  <a:srgbClr val="101824"/>
                </a:solidFill>
                <a:latin typeface="Consolas"/>
              </a:rPr>
              <a:t>[HarmonyPrefix]</a:t>
            </a:r>
          </a:p>
          <a:p>
            <a:pPr algn="l"/>
            <a:r>
              <a:rPr sz="1600">
                <a:solidFill>
                  <a:srgbClr val="101824"/>
                </a:solidFill>
                <a:latin typeface="Consolas"/>
              </a:rPr>
              <a:t>public static bool Prefix(</a:t>
            </a:r>
          </a:p>
          <a:p>
            <a:pPr algn="l"/>
            <a:r>
              <a:rPr sz="1600">
                <a:solidFill>
                  <a:srgbClr val="101824"/>
                </a:solidFill>
                <a:latin typeface="Consolas"/>
              </a:rPr>
              <a:t>        HazardousWeatherService ____hazardousWeatherService,  // ★</a:t>
            </a:r>
          </a:p>
          <a:p>
            <a:pPr algn="l"/>
            <a:r>
              <a:rPr sz="1600">
                <a:solidFill>
                  <a:srgbClr val="101824"/>
                </a:solidFill>
                <a:latin typeface="Consolas"/>
              </a:rPr>
              <a:t>        DroughtWeatherUISpecification ____droughtWeatherUISpecification,</a:t>
            </a:r>
          </a:p>
          <a:p>
            <a:pPr algn="l"/>
            <a:r>
              <a:rPr sz="1600">
                <a:solidFill>
                  <a:srgbClr val="101824"/>
                </a:solidFill>
                <a:latin typeface="Consolas"/>
              </a:rPr>
              <a:t>        ref object ____currentUISpecification) {</a:t>
            </a:r>
          </a:p>
          <a:p>
            <a:pPr algn="l"/>
            <a:r>
              <a:rPr sz="1600">
                <a:solidFill>
                  <a:srgbClr val="101824"/>
                </a:solidFill>
                <a:latin typeface="Consolas"/>
              </a:rPr>
              <a:t>    // … patch body …</a:t>
            </a:r>
          </a:p>
          <a:p>
            <a:pPr algn="l"/>
            <a:r>
              <a:rPr sz="1600">
                <a:solidFill>
                  <a:srgbClr val="101824"/>
                </a:solidFill>
                <a:latin typeface="Consolas"/>
              </a:rPr>
              <a:t>}</a:t>
            </a:r>
          </a:p>
          <a:p>
            <a:pPr algn="l"/>
            <a:r>
              <a:rPr sz="1600">
                <a:solidFill>
                  <a:srgbClr val="101824"/>
                </a:solidFill>
                <a:latin typeface="Consolas"/>
              </a:rPr>
              <a:t> </a:t>
            </a:r>
          </a:p>
          <a:p>
            <a:pPr algn="l"/>
            <a:r>
              <a:rPr sz="1600">
                <a:solidFill>
                  <a:srgbClr val="101824"/>
                </a:solidFill>
                <a:latin typeface="Consolas"/>
              </a:rPr>
              <a:t>// Why ★ has FOUR underscores:</a:t>
            </a:r>
          </a:p>
          <a:p>
            <a:pPr algn="l"/>
            <a:r>
              <a:rPr sz="1600">
                <a:solidFill>
                  <a:srgbClr val="101824"/>
                </a:solidFill>
                <a:latin typeface="Consolas"/>
              </a:rPr>
              <a:t>//   Harmony strips THREE leading underscores from the parameter name</a:t>
            </a:r>
          </a:p>
          <a:p>
            <a:pPr algn="l"/>
            <a:r>
              <a:rPr sz="1600">
                <a:solidFill>
                  <a:srgbClr val="101824"/>
                </a:solidFill>
                <a:latin typeface="Consolas"/>
              </a:rPr>
              <a:t>//   and uses the remainder as the field name.</a:t>
            </a:r>
          </a:p>
          <a:p>
            <a:pPr algn="l"/>
            <a:r>
              <a:rPr sz="1600">
                <a:solidFill>
                  <a:srgbClr val="101824"/>
                </a:solidFill>
                <a:latin typeface="Consolas"/>
              </a:rPr>
              <a:t>//   The game's fields start with ONE underscore.</a:t>
            </a:r>
          </a:p>
          <a:p>
            <a:pPr algn="l"/>
            <a:r>
              <a:rPr sz="1600">
                <a:solidFill>
                  <a:srgbClr val="101824"/>
                </a:solidFill>
                <a:latin typeface="Consolas"/>
              </a:rPr>
              <a:t>//   So we need 3 (for Harmony) + 1 (vanilla naming) = 4.</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The kind of gotcha you only find by crashing once. Documented in CLAUDE.md.</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The cascade   ·   22 / 34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UI: the drought textures bleed through</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Spoofing the UI spec to drought makes vanilla code stop throwing…</a:t>
            </a:r>
          </a:p>
          <a:p>
            <a:pPr algn="l">
              <a:spcAft>
                <a:spcPts val="800"/>
              </a:spcAft>
            </a:pPr>
            <a:r>
              <a:rPr sz="2200">
                <a:solidFill>
                  <a:srgbClr val="101824"/>
                </a:solidFill>
                <a:latin typeface="Calibri"/>
              </a:rPr>
              <a:t>•  …but the player now sees a DROUGHT sun glyph during a FLOOD</a:t>
            </a:r>
          </a:p>
          <a:p>
            <a:pPr algn="l">
              <a:spcAft>
                <a:spcPts val="800"/>
              </a:spcAft>
            </a:pPr>
            <a:r>
              <a:rPr sz="2200">
                <a:solidFill>
                  <a:srgbClr val="101824"/>
                </a:solidFill>
                <a:latin typeface="Calibri"/>
              </a:rPr>
              <a:t>•  Date panel icon: CSS class on root → swap inline style.backgroundImage</a:t>
            </a:r>
          </a:p>
          <a:p>
            <a:pPr algn="l">
              <a:spcAft>
                <a:spcPts val="800"/>
              </a:spcAft>
            </a:pPr>
            <a:r>
              <a:rPr sz="2200">
                <a:solidFill>
                  <a:srgbClr val="101824"/>
                </a:solidFill>
                <a:latin typeface="Calibri"/>
              </a:rPr>
              <a:t>•  Notification banner: same. Find the Image element, override inline.</a:t>
            </a:r>
          </a:p>
          <a:p>
            <a:pPr algn="l">
              <a:spcAft>
                <a:spcPts val="800"/>
              </a:spcAft>
            </a:pPr>
            <a:r>
              <a:rPr sz="2200">
                <a:solidFill>
                  <a:srgbClr val="101824"/>
                </a:solidFill>
                <a:latin typeface="Calibri"/>
              </a:rPr>
              <a:t>•  Weather panel progress strip: oh no, that one's a custom mesh.</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The cascade   ·   23 / 34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deferred-resolver race</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 SimpleProgressBar (in CoreUI). Custom mesh, sprite-from-USS:</a:t>
            </a:r>
          </a:p>
          <a:p>
            <a:pPr algn="l"/>
            <a:r>
              <a:rPr sz="1600">
                <a:solidFill>
                  <a:srgbClr val="101824"/>
                </a:solidFill>
                <a:latin typeface="Consolas"/>
              </a:rPr>
              <a:t>private Sprite _image;</a:t>
            </a:r>
          </a:p>
          <a:p>
            <a:pPr algn="l"/>
            <a:r>
              <a:rPr sz="1600">
                <a:solidFill>
                  <a:srgbClr val="101824"/>
                </a:solidFill>
                <a:latin typeface="Consolas"/>
              </a:rPr>
              <a:t>private static readonly CustomStyleProperty&lt;string&gt; BackgroundImageProperty</a:t>
            </a:r>
          </a:p>
          <a:p>
            <a:pPr algn="l"/>
            <a:r>
              <a:rPr sz="1600">
                <a:solidFill>
                  <a:srgbClr val="101824"/>
                </a:solidFill>
                <a:latin typeface="Consolas"/>
              </a:rPr>
              <a:t>    = new CustomStyleProperty&lt;string&gt;("--background-image");</a:t>
            </a:r>
          </a:p>
          <a:p>
            <a:pPr algn="l"/>
            <a:r>
              <a:rPr sz="1600">
                <a:solidFill>
                  <a:srgbClr val="101824"/>
                </a:solidFill>
                <a:latin typeface="Consolas"/>
              </a:rPr>
              <a:t>private void OnCustomStyleResolved(CustomStyleResolvedEvent e) {</a:t>
            </a:r>
          </a:p>
          <a:p>
            <a:pPr algn="l"/>
            <a:r>
              <a:rPr sz="1600">
                <a:solidFill>
                  <a:srgbClr val="101824"/>
                </a:solidFill>
                <a:latin typeface="Consolas"/>
              </a:rPr>
              <a:t>    _image = e.customStyle.TryGetValue(BackgroundImageProperty, out var v)</a:t>
            </a:r>
          </a:p>
          <a:p>
            <a:pPr algn="l"/>
            <a:r>
              <a:rPr sz="1600">
                <a:solidFill>
                  <a:srgbClr val="101824"/>
                </a:solidFill>
                <a:latin typeface="Consolas"/>
              </a:rPr>
              <a:t>        ? Resources.Load&lt;Sprite&gt;(v) : null;</a:t>
            </a:r>
          </a:p>
          <a:p>
            <a:pPr algn="l"/>
            <a:r>
              <a:rPr sz="1600">
                <a:solidFill>
                  <a:srgbClr val="101824"/>
                </a:solidFill>
                <a:latin typeface="Consolas"/>
              </a:rPr>
              <a:t>}</a:t>
            </a:r>
          </a:p>
          <a:p>
            <a:pPr algn="l"/>
            <a:r>
              <a:rPr sz="1600">
                <a:solidFill>
                  <a:srgbClr val="101824"/>
                </a:solidFill>
                <a:latin typeface="Consolas"/>
              </a:rPr>
              <a:t> </a:t>
            </a:r>
          </a:p>
          <a:p>
            <a:pPr algn="l"/>
            <a:r>
              <a:rPr sz="1600">
                <a:solidFill>
                  <a:srgbClr val="101824"/>
                </a:solidFill>
                <a:latin typeface="Consolas"/>
              </a:rPr>
              <a:t>// First attempt: override _image from WeatherPanel.UpdatePanel.</a:t>
            </a:r>
          </a:p>
          <a:p>
            <a:pPr algn="l"/>
            <a:r>
              <a:rPr sz="1600">
                <a:solidFill>
                  <a:srgbClr val="101824"/>
                </a:solidFill>
                <a:latin typeface="Consolas"/>
              </a:rPr>
              <a:t>// FAILED. Unity's custom-style resolution is DEFERRED — runs AFTER our</a:t>
            </a:r>
          </a:p>
          <a:p>
            <a:pPr algn="l"/>
            <a:r>
              <a:rPr sz="1600">
                <a:solidFill>
                  <a:srgbClr val="101824"/>
                </a:solidFill>
                <a:latin typeface="Consolas"/>
              </a:rPr>
              <a:t>// UpdatePanel postfix returns and overwrites _image back to drought.</a:t>
            </a:r>
          </a:p>
          <a:p>
            <a:pPr algn="l"/>
            <a:r>
              <a:rPr sz="1600">
                <a:solidFill>
                  <a:srgbClr val="101824"/>
                </a:solidFill>
                <a:latin typeface="Consolas"/>
              </a:rPr>
              <a:t> </a:t>
            </a:r>
          </a:p>
          <a:p>
            <a:pPr algn="l"/>
            <a:r>
              <a:rPr sz="1600">
                <a:solidFill>
                  <a:srgbClr val="101824"/>
                </a:solidFill>
                <a:latin typeface="Consolas"/>
              </a:rPr>
              <a:t>// Working approach: postfix OnCustomStyleResolved itself.</a:t>
            </a:r>
          </a:p>
          <a:p>
            <a:pPr algn="l"/>
            <a:r>
              <a:rPr sz="1600">
                <a:solidFill>
                  <a:srgbClr val="101824"/>
                </a:solidFill>
                <a:latin typeface="Consolas"/>
              </a:rPr>
              <a:t>// Whatever vanilla writes, we write last.</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UI Toolkit resolution timing. Discovered by adding diagnostic logs.</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The cascade   ·   24 / 34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Save / load: vanilla schema can't fit</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Vanilla persists the active hazard as ONE BOOL: IsDrought (true) / IsBadtide (false)</a:t>
            </a:r>
          </a:p>
          <a:p>
            <a:pPr algn="l">
              <a:spcAft>
                <a:spcPts val="800"/>
              </a:spcAft>
            </a:pPr>
            <a:r>
              <a:rPr sz="2200">
                <a:solidFill>
                  <a:srgbClr val="101824"/>
                </a:solidFill>
                <a:latin typeface="Calibri"/>
              </a:rPr>
              <a:t>•  Save during a Flood → IsDrought=false (vanilla checks REFERENCE equality)</a:t>
            </a:r>
          </a:p>
          <a:p>
            <a:pPr algn="l">
              <a:spcAft>
                <a:spcPts val="800"/>
              </a:spcAft>
            </a:pPr>
            <a:r>
              <a:rPr sz="2200">
                <a:solidFill>
                  <a:srgbClr val="101824"/>
                </a:solidFill>
                <a:latin typeface="Calibri"/>
              </a:rPr>
              <a:t>•  Load → game restores active hazard as Badtide. Flood vanishes.</a:t>
            </a:r>
          </a:p>
          <a:p>
            <a:pPr algn="l">
              <a:spcAft>
                <a:spcPts val="800"/>
              </a:spcAft>
            </a:pPr>
            <a:r>
              <a:rPr sz="2200">
                <a:solidFill>
                  <a:srgbClr val="101824"/>
                </a:solidFill>
                <a:latin typeface="Calibri"/>
              </a:rPr>
              <a:t>•  Fix: our own SingletonKey. Two bools, IsFloodActive + IsMixedTideActive.</a:t>
            </a:r>
          </a:p>
          <a:p>
            <a:pPr algn="l">
              <a:spcAft>
                <a:spcPts val="800"/>
              </a:spcAft>
            </a:pPr>
            <a:r>
              <a:rPr sz="2200">
                <a:solidFill>
                  <a:srgbClr val="101824"/>
                </a:solidFill>
                <a:latin typeface="Calibri"/>
              </a:rPr>
              <a:t>•  PostLoad force-overrides CurrentCycleHazardousWeather via AccessTools.PropertySetter.</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Save / load   ·   25 / 34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HazardousWeatherStatePersistence (excerpt)</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400">
                <a:solidFill>
                  <a:srgbClr val="101824"/>
                </a:solidFill>
                <a:latin typeface="Consolas"/>
              </a:rPr>
              <a:t>internal class HazardousWeatherStatePersistence</a:t>
            </a:r>
          </a:p>
          <a:p>
            <a:pPr algn="l"/>
            <a:r>
              <a:rPr sz="1400">
                <a:solidFill>
                  <a:srgbClr val="101824"/>
                </a:solidFill>
                <a:latin typeface="Consolas"/>
              </a:rPr>
              <a:t>    : ILoadableSingleton, ISaveableSingleton, IPostLoadableSingleton {</a:t>
            </a:r>
          </a:p>
          <a:p>
            <a:pPr algn="l"/>
            <a:r>
              <a:rPr sz="1400">
                <a:solidFill>
                  <a:srgbClr val="101824"/>
                </a:solidFill>
                <a:latin typeface="Consolas"/>
              </a:rPr>
              <a:t> </a:t>
            </a:r>
          </a:p>
          <a:p>
            <a:pPr algn="l"/>
            <a:r>
              <a:rPr sz="1400">
                <a:solidFill>
                  <a:srgbClr val="101824"/>
                </a:solidFill>
                <a:latin typeface="Consolas"/>
              </a:rPr>
              <a:t>    private static readonly SingletonKey StateKey =</a:t>
            </a:r>
          </a:p>
          <a:p>
            <a:pPr algn="l"/>
            <a:r>
              <a:rPr sz="1400">
                <a:solidFill>
                  <a:srgbClr val="101824"/>
                </a:solidFill>
                <a:latin typeface="Consolas"/>
              </a:rPr>
              <a:t>        new SingletonKey("Spycho.FloodSeason.HazardousWeatherState");</a:t>
            </a:r>
          </a:p>
          <a:p>
            <a:pPr algn="l"/>
            <a:r>
              <a:rPr sz="1400">
                <a:solidFill>
                  <a:srgbClr val="101824"/>
                </a:solidFill>
                <a:latin typeface="Consolas"/>
              </a:rPr>
              <a:t>    private static readonly PropertyKey&lt;bool&gt; IsFloodActiveKey      = …;</a:t>
            </a:r>
          </a:p>
          <a:p>
            <a:pPr algn="l"/>
            <a:r>
              <a:rPr sz="1400">
                <a:solidFill>
                  <a:srgbClr val="101824"/>
                </a:solidFill>
                <a:latin typeface="Consolas"/>
              </a:rPr>
              <a:t>    private static readonly PropertyKey&lt;bool&gt; IsMixedTideActiveKey  = …;</a:t>
            </a:r>
          </a:p>
          <a:p>
            <a:pPr algn="l"/>
            <a:r>
              <a:rPr sz="1400">
                <a:solidFill>
                  <a:srgbClr val="101824"/>
                </a:solidFill>
                <a:latin typeface="Consolas"/>
              </a:rPr>
              <a:t> </a:t>
            </a:r>
          </a:p>
          <a:p>
            <a:pPr algn="l"/>
            <a:r>
              <a:rPr sz="1400">
                <a:solidFill>
                  <a:srgbClr val="101824"/>
                </a:solidFill>
                <a:latin typeface="Consolas"/>
              </a:rPr>
              <a:t>    public void Save(ISingletonSaver s) {</a:t>
            </a:r>
          </a:p>
          <a:p>
            <a:pPr algn="l"/>
            <a:r>
              <a:rPr sz="1400">
                <a:solidFill>
                  <a:srgbClr val="101824"/>
                </a:solidFill>
                <a:latin typeface="Consolas"/>
              </a:rPr>
              <a:t>        // Always write BOTH bools (one true) when our singleton is present.</a:t>
            </a:r>
          </a:p>
          <a:p>
            <a:pPr algn="l"/>
            <a:r>
              <a:rPr sz="1400">
                <a:solidFill>
                  <a:srgbClr val="101824"/>
                </a:solidFill>
                <a:latin typeface="Consolas"/>
              </a:rPr>
              <a:t>        // IObjectLoader.Get throws on missing keys → can't write only one.</a:t>
            </a:r>
          </a:p>
          <a:p>
            <a:pPr algn="l"/>
            <a:r>
              <a:rPr sz="1400">
                <a:solidFill>
                  <a:srgbClr val="101824"/>
                </a:solidFill>
                <a:latin typeface="Consolas"/>
              </a:rPr>
              <a:t>        var saver = s.GetSingleton(StateKey);</a:t>
            </a:r>
          </a:p>
          <a:p>
            <a:pPr algn="l"/>
            <a:r>
              <a:rPr sz="1400">
                <a:solidFill>
                  <a:srgbClr val="101824"/>
                </a:solidFill>
                <a:latin typeface="Consolas"/>
              </a:rPr>
              <a:t>        saver.Set(IsFloodActiveKey,     current is FloodWeather);</a:t>
            </a:r>
          </a:p>
          <a:p>
            <a:pPr algn="l"/>
            <a:r>
              <a:rPr sz="1400">
                <a:solidFill>
                  <a:srgbClr val="101824"/>
                </a:solidFill>
                <a:latin typeface="Consolas"/>
              </a:rPr>
              <a:t>        saver.Set(IsMixedTideActiveKey, current is MixedTideWeather);</a:t>
            </a:r>
          </a:p>
          <a:p>
            <a:pPr algn="l"/>
            <a:r>
              <a:rPr sz="1400">
                <a:solidFill>
                  <a:srgbClr val="101824"/>
                </a:solidFill>
                <a:latin typeface="Consolas"/>
              </a:rPr>
              <a:t>    }</a:t>
            </a:r>
          </a:p>
          <a:p>
            <a:pPr algn="l"/>
            <a:r>
              <a:rPr sz="1400">
                <a:solidFill>
                  <a:srgbClr val="101824"/>
                </a:solidFill>
                <a:latin typeface="Consolas"/>
              </a:rPr>
              <a:t> </a:t>
            </a:r>
          </a:p>
          <a:p>
            <a:pPr algn="l"/>
            <a:r>
              <a:rPr sz="1400">
                <a:solidFill>
                  <a:srgbClr val="101824"/>
                </a:solidFill>
                <a:latin typeface="Consolas"/>
              </a:rPr>
              <a:t>    public void PostLoad() {</a:t>
            </a:r>
          </a:p>
          <a:p>
            <a:pPr algn="l"/>
            <a:r>
              <a:rPr sz="1400">
                <a:solidFill>
                  <a:srgbClr val="101824"/>
                </a:solidFill>
                <a:latin typeface="Consolas"/>
              </a:rPr>
              <a:t>        // Read bools; setter.Invoke to force-restore the right weather;</a:t>
            </a:r>
          </a:p>
          <a:p>
            <a:pPr algn="l"/>
            <a:r>
              <a:rPr sz="1400">
                <a:solidFill>
                  <a:srgbClr val="101824"/>
                </a:solidFill>
                <a:latin typeface="Consolas"/>
              </a:rPr>
              <a:t>        // re-fire HazardousWeatherSelectedEvent so UI helper refreshes;</a:t>
            </a:r>
          </a:p>
          <a:p>
            <a:pPr algn="l"/>
            <a:r>
              <a:rPr sz="1400">
                <a:solidFill>
                  <a:srgbClr val="101824"/>
                </a:solidFill>
                <a:latin typeface="Consolas"/>
              </a:rPr>
              <a:t>        // post fake HazardousWeatherEndedEvent(badtide) to clean up the</a:t>
            </a:r>
          </a:p>
          <a:p>
            <a:pPr algn="l"/>
            <a:r>
              <a:rPr sz="1400">
                <a:solidFill>
                  <a:srgbClr val="101824"/>
                </a:solidFill>
                <a:latin typeface="Consolas"/>
              </a:rPr>
              <a:t>        // contamination controllers vanilla load wrongly enabled.</a:t>
            </a:r>
          </a:p>
          <a:p>
            <a:pPr algn="l"/>
            <a:r>
              <a:rPr sz="1400">
                <a:solidFill>
                  <a:srgbClr val="101824"/>
                </a:solidFill>
                <a:latin typeface="Consolas"/>
              </a:rPr>
              <a:t>    }</a:t>
            </a:r>
          </a:p>
          <a:p>
            <a:pPr algn="l"/>
            <a:r>
              <a:rPr sz="1400">
                <a:solidFill>
                  <a:srgbClr val="101824"/>
                </a:solidFill>
                <a:latin typeface="Consolas"/>
              </a:rPr>
              <a:t>}</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Two new gotchas hidden here: missing-key throw, and the fake-event knock-on.</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Save / load   ·   26 / 34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fake event knock-on</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Posting a synthetic HazardousWeatherEndedEvent(BadtideWeather) cleans up contamination ✓</a:t>
            </a:r>
          </a:p>
          <a:p>
            <a:pPr algn="l">
              <a:spcAft>
                <a:spcPts val="800"/>
              </a:spcAft>
            </a:pPr>
            <a:r>
              <a:rPr sz="2200">
                <a:solidFill>
                  <a:srgbClr val="101824"/>
                </a:solidFill>
                <a:latin typeface="Calibri"/>
              </a:rPr>
              <a:t>•  It ALSO reaches GameMusicPlayer.OnHazardousWeatherEnded ✗</a:t>
            </a:r>
          </a:p>
          <a:p>
            <a:pPr algn="l" lvl="1">
              <a:spcAft>
                <a:spcPts val="800"/>
              </a:spcAft>
            </a:pPr>
            <a:r>
              <a:rPr sz="1800">
                <a:solidFill>
                  <a:srgbClr val="556070"/>
                </a:solidFill>
                <a:latin typeface="Calibri"/>
              </a:rPr>
              <a:t>    –  Music player thinks badtide just ended → stops drought track, starts standard.</a:t>
            </a:r>
          </a:p>
          <a:p>
            <a:pPr algn="l" lvl="1">
              <a:spcAft>
                <a:spcPts val="800"/>
              </a:spcAft>
            </a:pPr>
            <a:r>
              <a:rPr sz="1800">
                <a:solidFill>
                  <a:srgbClr val="556070"/>
                </a:solidFill>
                <a:latin typeface="Calibri"/>
              </a:rPr>
              <a:t>    –  But Load() already started drought music. Standard plays ON TOP.</a:t>
            </a:r>
          </a:p>
          <a:p>
            <a:pPr algn="l">
              <a:spcAft>
                <a:spcPts val="800"/>
              </a:spcAft>
            </a:pPr>
            <a:r>
              <a:rPr sz="2200">
                <a:solidFill>
                  <a:srgbClr val="101824"/>
                </a:solidFill>
                <a:latin typeface="Calibri"/>
              </a:rPr>
              <a:t>•  Fix: Harmony prefix on GameMusicPlayer.OnHazardousWeatherEnded.</a:t>
            </a:r>
          </a:p>
          <a:p>
            <a:pPr algn="l" lvl="1">
              <a:spcAft>
                <a:spcPts val="800"/>
              </a:spcAft>
            </a:pPr>
            <a:r>
              <a:rPr sz="1800">
                <a:solidFill>
                  <a:srgbClr val="556070"/>
                </a:solidFill>
                <a:latin typeface="Calibri"/>
              </a:rPr>
              <a:t>    –  If ended-weather is badtide AND our custom hazard is current → skip handler.</a:t>
            </a:r>
          </a:p>
          <a:p>
            <a:pPr algn="l" lvl="1">
              <a:spcAft>
                <a:spcPts val="800"/>
              </a:spcAft>
            </a:pPr>
            <a:r>
              <a:rPr sz="1800">
                <a:solidFill>
                  <a:srgbClr val="556070"/>
                </a:solidFill>
                <a:latin typeface="Calibri"/>
              </a:rPr>
              <a:t>    –  That combination is unreachable in vanilla. Only our synthetic post produces it.</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Save / load   ·   27 / 34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203A"/>
        </a:solidFill>
        <a:effectLst/>
      </p:bgPr>
    </p:bg>
    <p:spTree>
      <p:nvGrpSpPr>
        <p:cNvPr id="1" name=""/>
        <p:cNvGrpSpPr/>
        <p:nvPr/>
      </p:nvGrpSpPr>
      <p:grpSpPr/>
      <p:sp>
        <p:nvSpPr>
          <p:cNvPr id="2" name="TextBox 1"/>
          <p:cNvSpPr txBox="1"/>
          <p:nvPr/>
        </p:nvSpPr>
        <p:spPr>
          <a:xfrm>
            <a:off x="548640" y="1828800"/>
            <a:ext cx="11094415" cy="2286000"/>
          </a:xfrm>
          <a:prstGeom prst="rect">
            <a:avLst/>
          </a:prstGeom>
          <a:noFill/>
        </p:spPr>
        <p:txBody>
          <a:bodyPr wrap="square" anchor="ctr">
            <a:spAutoFit/>
          </a:bodyPr>
          <a:lstStyle/>
          <a:p>
            <a:pPr algn="ctr"/>
            <a:r>
              <a:rPr sz="4000" b="0">
                <a:solidFill>
                  <a:srgbClr val="F4F7FB"/>
                </a:solidFill>
                <a:latin typeface="Calibri Light"/>
              </a:rPr>
              <a:t>“Not all the way poison — just kind of.”</a:t>
            </a:r>
          </a:p>
        </p:txBody>
      </p:sp>
      <p:sp>
        <p:nvSpPr>
          <p:cNvPr id="3" name="TextBox 2"/>
          <p:cNvSpPr txBox="1"/>
          <p:nvPr/>
        </p:nvSpPr>
        <p:spPr>
          <a:xfrm>
            <a:off x="548640" y="4297680"/>
            <a:ext cx="11094415" cy="731520"/>
          </a:xfrm>
          <a:prstGeom prst="rect">
            <a:avLst/>
          </a:prstGeom>
          <a:noFill/>
        </p:spPr>
        <p:txBody>
          <a:bodyPr wrap="square" anchor="ctr">
            <a:spAutoFit/>
          </a:bodyPr>
          <a:lstStyle/>
          <a:p>
            <a:pPr algn="ctr"/>
            <a:r>
              <a:rPr sz="2200" b="0">
                <a:solidFill>
                  <a:srgbClr val="AADCF0"/>
                </a:solidFill>
                <a:latin typeface="Calibri"/>
              </a:rPr>
              <a:t>— TODO_SON_NAME, feature request #2 — Mixed Tide</a:t>
            </a:r>
          </a:p>
        </p:txBody>
      </p:sp>
      <p:sp>
        <p:nvSpPr>
          <p:cNvPr id="4" name="TextBox 3"/>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Doing it twice   ·   28 / 34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Mixed Tide seam — contamination as a real mix ratio</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 Found by decompiling Timberborn.WaterSystem and reading</a:t>
            </a:r>
          </a:p>
          <a:p>
            <a:pPr algn="l"/>
            <a:r>
              <a:rPr sz="1600">
                <a:solidFill>
                  <a:srgbClr val="101824"/>
                </a:solidFill>
                <a:latin typeface="Consolas"/>
              </a:rPr>
              <a:t>// SimulateContamination:</a:t>
            </a:r>
          </a:p>
          <a:p>
            <a:pPr algn="l"/>
            <a:r>
              <a:rPr sz="1600">
                <a:solidFill>
                  <a:srgbClr val="101824"/>
                </a:solidFill>
                <a:latin typeface="Consolas"/>
              </a:rPr>
              <a:t>//</a:t>
            </a:r>
          </a:p>
          <a:p>
            <a:pPr algn="l"/>
            <a:r>
              <a:rPr sz="1600">
                <a:solidFill>
                  <a:srgbClr val="101824"/>
                </a:solidFill>
                <a:latin typeface="Consolas"/>
              </a:rPr>
              <a:t>//   float num3 = (column.Contamination * (num2 + waterDisposed)</a:t>
            </a:r>
          </a:p>
          <a:p>
            <a:pPr algn="l"/>
            <a:r>
              <a:rPr sz="1600">
                <a:solidFill>
                  <a:srgbClr val="101824"/>
                </a:solidFill>
                <a:latin typeface="Consolas"/>
              </a:rPr>
              <a:t>//                 + contaminationChange) / num;</a:t>
            </a:r>
          </a:p>
          <a:p>
            <a:pPr algn="l"/>
            <a:r>
              <a:rPr sz="1600">
                <a:solidFill>
                  <a:srgbClr val="101824"/>
                </a:solidFill>
                <a:latin typeface="Consolas"/>
              </a:rPr>
              <a:t>//   _contaminationsBuffer[index3D] =</a:t>
            </a:r>
          </a:p>
          <a:p>
            <a:pPr algn="l"/>
            <a:r>
              <a:rPr sz="1600">
                <a:solidFill>
                  <a:srgbClr val="101824"/>
                </a:solidFill>
                <a:latin typeface="Consolas"/>
              </a:rPr>
              <a:t>//       (num3 &gt; _maxWaterContamination) ? _maxWaterContamination : num3;</a:t>
            </a:r>
          </a:p>
          <a:p>
            <a:pPr algn="l"/>
            <a:r>
              <a:rPr sz="1600">
                <a:solidFill>
                  <a:srgbClr val="101824"/>
                </a:solidFill>
                <a:latin typeface="Consolas"/>
              </a:rPr>
              <a:t>//</a:t>
            </a:r>
          </a:p>
          <a:p>
            <a:pPr algn="l"/>
            <a:r>
              <a:rPr sz="1600">
                <a:solidFill>
                  <a:srgbClr val="101824"/>
                </a:solidFill>
                <a:latin typeface="Consolas"/>
              </a:rPr>
              <a:t>// Translation: WaterSource.Contamination IS the bad-water fraction</a:t>
            </a:r>
          </a:p>
          <a:p>
            <a:pPr algn="l"/>
            <a:r>
              <a:rPr sz="1600">
                <a:solidFill>
                  <a:srgbClr val="101824"/>
                </a:solidFill>
                <a:latin typeface="Consolas"/>
              </a:rPr>
              <a:t>// emitted at the source. It diffuses into the water-column simulation.</a:t>
            </a:r>
          </a:p>
          <a:p>
            <a:pPr algn="l"/>
            <a:r>
              <a:rPr sz="1600">
                <a:solidFill>
                  <a:srgbClr val="101824"/>
                </a:solidFill>
                <a:latin typeface="Consolas"/>
              </a:rPr>
              <a:t>//</a:t>
            </a:r>
          </a:p>
          <a:p>
            <a:pPr algn="l"/>
            <a:r>
              <a:rPr sz="1600">
                <a:solidFill>
                  <a:srgbClr val="101824"/>
                </a:solidFill>
                <a:latin typeface="Consolas"/>
              </a:rPr>
              <a:t>// → setting 0.3 yields 30% bad / 70% clean. The mechanic comes for free.</a:t>
            </a:r>
          </a:p>
          <a:p>
            <a:pPr algn="l"/>
            <a:r>
              <a:rPr sz="1600">
                <a:solidFill>
                  <a:srgbClr val="101824"/>
                </a:solidFill>
                <a:latin typeface="Consolas"/>
              </a:rPr>
              <a:t> </a:t>
            </a:r>
          </a:p>
          <a:p>
            <a:pPr algn="l"/>
            <a:r>
              <a:rPr sz="1600">
                <a:solidFill>
                  <a:srgbClr val="101824"/>
                </a:solidFill>
                <a:latin typeface="Consolas"/>
              </a:rPr>
              <a:t>internal class MixedTideContaminationController : TickableComponent, … {</a:t>
            </a:r>
          </a:p>
          <a:p>
            <a:pPr algn="l"/>
            <a:r>
              <a:rPr sz="1600">
                <a:solidFill>
                  <a:srgbClr val="101824"/>
                </a:solidFill>
                <a:latin typeface="Consolas"/>
              </a:rPr>
              <a:t>    public override void Tick() {</a:t>
            </a:r>
          </a:p>
          <a:p>
            <a:pPr algn="l"/>
            <a:r>
              <a:rPr sz="1600">
                <a:solidFill>
                  <a:srgbClr val="101824"/>
                </a:solidFill>
                <a:latin typeface="Consolas"/>
              </a:rPr>
              <a:t>        _waterSourceContamination.SetContamination(_settings.MixedTideContamination);</a:t>
            </a:r>
          </a:p>
          <a:p>
            <a:pPr algn="l"/>
            <a:r>
              <a:rPr sz="1600">
                <a:solidFill>
                  <a:srgbClr val="101824"/>
                </a:solidFill>
                <a:latin typeface="Consolas"/>
              </a:rPr>
              <a:t>    }</a:t>
            </a:r>
          </a:p>
          <a:p>
            <a:pPr algn="l"/>
            <a:r>
              <a:rPr sz="1600">
                <a:solidFill>
                  <a:srgbClr val="101824"/>
                </a:solidFill>
                <a:latin typeface="Consolas"/>
              </a:rPr>
              <a:t>}</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Read the simulation code, found the variable, set it to 0.3.</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Doing it twice   ·   29 / 34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What doing-it-twice revealed</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Every patch from the cascade needed one parallel branch for MixedTide</a:t>
            </a:r>
          </a:p>
          <a:p>
            <a:pPr algn="l" lvl="1">
              <a:spcAft>
                <a:spcPts val="800"/>
              </a:spcAft>
            </a:pPr>
            <a:r>
              <a:rPr sz="1800">
                <a:solidFill>
                  <a:srgbClr val="556070"/>
                </a:solidFill>
                <a:latin typeface="Calibri"/>
              </a:rPr>
              <a:t>    –  WeatherUIHelperPatch: drought spec for flood, badtide spec for mixed</a:t>
            </a:r>
          </a:p>
          <a:p>
            <a:pPr algn="l" lvl="1">
              <a:spcAft>
                <a:spcPts val="800"/>
              </a:spcAft>
            </a:pPr>
            <a:r>
              <a:rPr sz="1800">
                <a:solidFill>
                  <a:srgbClr val="556070"/>
                </a:solidFill>
                <a:latin typeface="Calibri"/>
              </a:rPr>
              <a:t>    –  UIHelperLabelsPatch: 5 × postfix gets MixedTide branch</a:t>
            </a:r>
          </a:p>
          <a:p>
            <a:pPr algn="l" lvl="1">
              <a:spcAft>
                <a:spcPts val="800"/>
              </a:spcAft>
            </a:pPr>
            <a:r>
              <a:rPr sz="1800">
                <a:solidFill>
                  <a:srgbClr val="556070"/>
                </a:solidFill>
                <a:latin typeface="Calibri"/>
              </a:rPr>
              <a:t>    –  SoundPlayerPatch, NotificationBackgroundPatch, … — same shape</a:t>
            </a:r>
          </a:p>
          <a:p>
            <a:pPr algn="l">
              <a:spcAft>
                <a:spcPts val="800"/>
              </a:spcAft>
            </a:pPr>
            <a:r>
              <a:rPr sz="2200">
                <a:solidFill>
                  <a:srgbClr val="101824"/>
                </a:solidFill>
                <a:latin typeface="Calibri"/>
              </a:rPr>
              <a:t>•  Two NEW gotchas surfaced (added to CLAUDE.md):</a:t>
            </a:r>
          </a:p>
          <a:p>
            <a:pPr algn="l" lvl="1">
              <a:spcAft>
                <a:spcPts val="800"/>
              </a:spcAft>
            </a:pPr>
            <a:r>
              <a:rPr sz="1800">
                <a:solidFill>
                  <a:srgbClr val="556070"/>
                </a:solidFill>
                <a:latin typeface="Calibri"/>
              </a:rPr>
              <a:t>    –  TemplateModule.AddDecorator needs paired Bind&lt;T&gt;().AsTransient()</a:t>
            </a:r>
          </a:p>
          <a:p>
            <a:pPr algn="l" lvl="1">
              <a:spcAft>
                <a:spcPts val="800"/>
              </a:spcAft>
            </a:pPr>
            <a:r>
              <a:rPr sz="1800">
                <a:solidFill>
                  <a:srgbClr val="556070"/>
                </a:solidFill>
                <a:latin typeface="Calibri"/>
              </a:rPr>
              <a:t>    –  IObjectLoader.Get throws on missing keys — use loader.Has() to guard</a:t>
            </a:r>
          </a:p>
          <a:p>
            <a:pPr algn="l">
              <a:spcAft>
                <a:spcPts val="800"/>
              </a:spcAft>
            </a:pPr>
            <a:r>
              <a:rPr sz="2200">
                <a:solidFill>
                  <a:srgbClr val="101824"/>
                </a:solidFill>
                <a:latin typeface="Calibri"/>
              </a:rPr>
              <a:t>•  Plus: custom-weather entity controllers don't auto-wake on save-restore</a:t>
            </a:r>
          </a:p>
          <a:p>
            <a:pPr algn="l" lvl="1">
              <a:spcAft>
                <a:spcPts val="800"/>
              </a:spcAft>
            </a:pPr>
            <a:r>
              <a:rPr sz="1800">
                <a:solidFill>
                  <a:srgbClr val="556070"/>
                </a:solidFill>
                <a:latin typeface="Calibri"/>
              </a:rPr>
              <a:t>    –  Subscribe to HazardousWeatherSelectedEvent + check IsHazardousWeather</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Doing it twice   ·   30 / 34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Build &amp; workflow lessons</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Timberborn's mod loader scans the folder RECURSIVELY — bin/obj/Code.dll → duplicate-load</a:t>
            </a:r>
          </a:p>
          <a:p>
            <a:pPr algn="l" lvl="1">
              <a:spcAft>
                <a:spcPts val="800"/>
              </a:spcAft>
            </a:pPr>
            <a:r>
              <a:rPr sz="1800">
                <a:solidFill>
                  <a:srgbClr val="556070"/>
                </a:solidFill>
                <a:latin typeface="Calibri"/>
              </a:rPr>
              <a:t>    –  Fix: Directory.Build.props redirects bin/obj outside the mod folder</a:t>
            </a:r>
          </a:p>
          <a:p>
            <a:pPr algn="l" lvl="1">
              <a:spcAft>
                <a:spcPts val="800"/>
              </a:spcAft>
            </a:pPr>
            <a:r>
              <a:rPr sz="1800">
                <a:solidFill>
                  <a:srgbClr val="556070"/>
                </a:solidFill>
                <a:latin typeface="Calibri"/>
              </a:rPr>
              <a:t>    –  Subtle: the path MUST be absolute. Relative paths collapse from a worktree.</a:t>
            </a:r>
          </a:p>
          <a:p>
            <a:pPr algn="l">
              <a:spcAft>
                <a:spcPts val="800"/>
              </a:spcAft>
            </a:pPr>
            <a:r>
              <a:rPr sz="2200">
                <a:solidFill>
                  <a:srgbClr val="101824"/>
                </a:solidFill>
                <a:latin typeface="Calibri"/>
              </a:rPr>
              <a:t>•  Claude Code creates worktrees at .claude/worktrees/&lt;name&gt;/ — INSIDE the mod folder</a:t>
            </a:r>
          </a:p>
          <a:p>
            <a:pPr algn="l" lvl="1">
              <a:spcAft>
                <a:spcPts val="800"/>
              </a:spcAft>
            </a:pPr>
            <a:r>
              <a:rPr sz="1800">
                <a:solidFill>
                  <a:srgbClr val="556070"/>
                </a:solidFill>
                <a:latin typeface="Calibri"/>
              </a:rPr>
              <a:t>    –  Symptom: 'mod loaded' 5× in Player.log, Harmony patch chain weird, UI flicker</a:t>
            </a:r>
          </a:p>
          <a:p>
            <a:pPr algn="l">
              <a:spcAft>
                <a:spcPts val="800"/>
              </a:spcAft>
            </a:pPr>
            <a:r>
              <a:rPr sz="2200">
                <a:solidFill>
                  <a:srgbClr val="101824"/>
                </a:solidFill>
                <a:latin typeface="Calibri"/>
              </a:rPr>
              <a:t>•  Slide-quality commits + per-phase incrementalism as a deliberate practice</a:t>
            </a:r>
          </a:p>
          <a:p>
            <a:pPr algn="l" lvl="1">
              <a:spcAft>
                <a:spcPts val="800"/>
              </a:spcAft>
            </a:pPr>
            <a:r>
              <a:rPr sz="1800">
                <a:solidFill>
                  <a:srgbClr val="556070"/>
                </a:solidFill>
                <a:latin typeface="Calibri"/>
              </a:rPr>
              <a:t>    –  git log --oneline reads like a tutorial — by design</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Workflow lessons   ·   31 / 34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CLAUDE.md — the gotcha catalogue</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bin/obj outside the mod folder (absolute path, not relative)</a:t>
            </a:r>
          </a:p>
          <a:p>
            <a:pPr algn="l">
              <a:spcAft>
                <a:spcPts val="800"/>
              </a:spcAft>
            </a:pPr>
            <a:r>
              <a:rPr sz="2200">
                <a:solidFill>
                  <a:srgbClr val="101824"/>
                </a:solidFill>
                <a:latin typeface="Calibri"/>
              </a:rPr>
              <a:t>•  Harmony field-injection needs FOUR underscores for vanilla underscored fields</a:t>
            </a:r>
          </a:p>
          <a:p>
            <a:pPr algn="l">
              <a:spcAft>
                <a:spcPts val="800"/>
              </a:spcAft>
            </a:pPr>
            <a:r>
              <a:rPr sz="2200">
                <a:solidFill>
                  <a:srgbClr val="101824"/>
                </a:solidFill>
                <a:latin typeface="Calibri"/>
              </a:rPr>
              <a:t>•  Bindito AsSingleton() is lazy without a tagged interface (ILoadableSingleton)</a:t>
            </a:r>
          </a:p>
          <a:p>
            <a:pPr algn="l">
              <a:spcAft>
                <a:spcPts val="800"/>
              </a:spcAft>
            </a:pPr>
            <a:r>
              <a:rPr sz="2200">
                <a:solidFill>
                  <a:srgbClr val="101824"/>
                </a:solidFill>
                <a:latin typeface="Calibri"/>
              </a:rPr>
              <a:t>•  Vanilla type-checks throw on unknown IHazardousWeather (UI helper, sound, fog)</a:t>
            </a:r>
          </a:p>
          <a:p>
            <a:pPr algn="l">
              <a:spcAft>
                <a:spcPts val="800"/>
              </a:spcAft>
            </a:pPr>
            <a:r>
              <a:rPr sz="2200">
                <a:solidFill>
                  <a:srgbClr val="101824"/>
                </a:solidFill>
                <a:latin typeface="Calibri"/>
              </a:rPr>
              <a:t>•  Id-keyed lookups are spoofed via FloodWeather.Id = "DroughtWeather"</a:t>
            </a:r>
          </a:p>
          <a:p>
            <a:pPr algn="l">
              <a:spcAft>
                <a:spcPts val="800"/>
              </a:spcAft>
            </a:pPr>
            <a:r>
              <a:rPr sz="2200">
                <a:solidFill>
                  <a:srgbClr val="101824"/>
                </a:solidFill>
                <a:latin typeface="Calibri"/>
              </a:rPr>
              <a:t>•  Cycle weather is decided at cycle START — settings changes never retro-apply</a:t>
            </a:r>
          </a:p>
          <a:p>
            <a:pPr algn="l">
              <a:spcAft>
                <a:spcPts val="800"/>
              </a:spcAft>
            </a:pPr>
            <a:r>
              <a:rPr sz="2200">
                <a:solidFill>
                  <a:srgbClr val="101824"/>
                </a:solidFill>
                <a:latin typeface="Calibri"/>
              </a:rPr>
              <a:t>•  TemplateModule.AddDecorator needs paired Bind&lt;T&gt;().AsTransient()</a:t>
            </a:r>
          </a:p>
          <a:p>
            <a:pPr algn="l">
              <a:spcAft>
                <a:spcPts val="800"/>
              </a:spcAft>
            </a:pPr>
            <a:r>
              <a:rPr sz="2200">
                <a:solidFill>
                  <a:srgbClr val="101824"/>
                </a:solidFill>
                <a:latin typeface="Calibri"/>
              </a:rPr>
              <a:t>•  IObjectLoader.Get(PropertyKey&lt;T&gt;) throws on missing keys → use Has() to guard</a:t>
            </a:r>
          </a:p>
          <a:p>
            <a:pPr algn="l">
              <a:spcAft>
                <a:spcPts val="800"/>
              </a:spcAft>
            </a:pPr>
            <a:r>
              <a:rPr sz="2200">
                <a:solidFill>
                  <a:srgbClr val="101824"/>
                </a:solidFill>
                <a:latin typeface="Calibri"/>
              </a:rPr>
              <a:t>•  Custom weathers don't auto-fire entity controllers on save-restore</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Workflow lessons   ·   32 / 34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What TODO_SON_NAME taught me about programming</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TODO: one or two sentences on what pair-programming with a kindergartener actually teaches you. Probably something about 'the customer should not write SQL' or 'best PM I've ever had'. User fills this in.</a:t>
            </a:r>
          </a:p>
          <a:p>
            <a:pPr algn="l">
              <a:spcAft>
                <a:spcPts val="800"/>
              </a:spcAft>
            </a:pPr>
            <a:r>
              <a:rPr sz="2200">
                <a:solidFill>
                  <a:srgbClr val="101824"/>
                </a:solidFill>
                <a:latin typeface="Calibri"/>
              </a:rPr>
              <a:t>•  </a:t>
            </a:r>
          </a:p>
          <a:p>
            <a:pPr algn="l">
              <a:spcAft>
                <a:spcPts val="800"/>
              </a:spcAft>
            </a:pPr>
            <a:r>
              <a:rPr sz="2200">
                <a:solidFill>
                  <a:srgbClr val="101824"/>
                </a:solidFill>
                <a:latin typeface="Calibri"/>
              </a:rPr>
              <a:t>•  (Customer-driven scoping. No bikeshedding on architecture. "Make floods big.")</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Closing   ·   33 / 34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A203A"/>
        </a:solidFill>
        <a:effectLst/>
      </p:bgPr>
    </p:bg>
    <p:spTree>
      <p:nvGrpSpPr>
        <p:cNvPr id="1" name=""/>
        <p:cNvGrpSpPr/>
        <p:nvPr/>
      </p:nvGrpSpPr>
      <p:grpSpPr/>
      <p:sp>
        <p:nvSpPr>
          <p:cNvPr id="2" name="TextBox 1"/>
          <p:cNvSpPr txBox="1"/>
          <p:nvPr/>
        </p:nvSpPr>
        <p:spPr>
          <a:xfrm>
            <a:off x="548640" y="1828800"/>
            <a:ext cx="11094415" cy="1463040"/>
          </a:xfrm>
          <a:prstGeom prst="rect">
            <a:avLst/>
          </a:prstGeom>
          <a:noFill/>
        </p:spPr>
        <p:txBody>
          <a:bodyPr wrap="square" anchor="ctr">
            <a:spAutoFit/>
          </a:bodyPr>
          <a:lstStyle/>
          <a:p>
            <a:pPr algn="l"/>
            <a:r>
              <a:rPr sz="5600" b="1">
                <a:solidFill>
                  <a:srgbClr val="F4F7FB"/>
                </a:solidFill>
                <a:latin typeface="Calibri Light"/>
              </a:rPr>
              <a:t>Thanks</a:t>
            </a:r>
          </a:p>
        </p:txBody>
      </p:sp>
      <p:sp>
        <p:nvSpPr>
          <p:cNvPr id="3" name="TextBox 2"/>
          <p:cNvSpPr txBox="1"/>
          <p:nvPr/>
        </p:nvSpPr>
        <p:spPr>
          <a:xfrm>
            <a:off x="548640" y="3383280"/>
            <a:ext cx="11094415" cy="731520"/>
          </a:xfrm>
          <a:prstGeom prst="rect">
            <a:avLst/>
          </a:prstGeom>
          <a:noFill/>
        </p:spPr>
        <p:txBody>
          <a:bodyPr wrap="square" anchor="ctr">
            <a:spAutoFit/>
          </a:bodyPr>
          <a:lstStyle/>
          <a:p>
            <a:pPr algn="l"/>
            <a:r>
              <a:rPr sz="2800" b="0">
                <a:solidFill>
                  <a:srgbClr val="AADCF0"/>
                </a:solidFill>
                <a:latin typeface="Calibri"/>
              </a:rPr>
              <a:t>Questions?</a:t>
            </a:r>
          </a:p>
        </p:txBody>
      </p:sp>
      <p:sp>
        <p:nvSpPr>
          <p:cNvPr id="4" name="TextBox 3"/>
          <p:cNvSpPr txBox="1"/>
          <p:nvPr/>
        </p:nvSpPr>
        <p:spPr>
          <a:xfrm>
            <a:off x="548640" y="4206240"/>
            <a:ext cx="11094415" cy="548640"/>
          </a:xfrm>
          <a:prstGeom prst="rect">
            <a:avLst/>
          </a:prstGeom>
          <a:noFill/>
        </p:spPr>
        <p:txBody>
          <a:bodyPr wrap="square" anchor="ctr">
            <a:spAutoFit/>
          </a:bodyPr>
          <a:lstStyle/>
          <a:p>
            <a:pPr algn="l"/>
            <a:r>
              <a:rPr sz="1800" b="0">
                <a:solidFill>
                  <a:srgbClr val="F4F7FB"/>
                </a:solidFill>
                <a:latin typeface="Calibri"/>
              </a:rPr>
              <a:t>github.com/Spycho/timberborn-flood-mod   ·   designed by TODO_SON_NAME</a:t>
            </a:r>
          </a:p>
        </p:txBody>
      </p:sp>
      <p:sp>
        <p:nvSpPr>
          <p:cNvPr id="5" name="TextBox 4"/>
          <p:cNvSpPr txBox="1"/>
          <p:nvPr/>
        </p:nvSpPr>
        <p:spPr>
          <a:xfrm>
            <a:off x="548640" y="6035040"/>
            <a:ext cx="11094415" cy="457200"/>
          </a:xfrm>
          <a:prstGeom prst="rect">
            <a:avLst/>
          </a:prstGeom>
          <a:noFill/>
        </p:spPr>
        <p:txBody>
          <a:bodyPr wrap="square" anchor="t">
            <a:spAutoFit/>
          </a:bodyPr>
          <a:lstStyle/>
          <a:p>
            <a:pPr algn="l"/>
            <a:r>
              <a:rPr sz="1200" b="0">
                <a:solidFill>
                  <a:srgbClr val="556070"/>
                </a:solidFill>
                <a:latin typeface="Calibri"/>
              </a:rPr>
              <a:t>Kallikor tech guild   ·   2026-09-10   ·   https://github.com/Spycho/timberborn-flood-mod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